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70" r:id="rId6"/>
    <p:sldId id="271" r:id="rId7"/>
    <p:sldId id="272" r:id="rId8"/>
    <p:sldId id="289" r:id="rId9"/>
    <p:sldId id="273" r:id="rId10"/>
    <p:sldId id="274" r:id="rId11"/>
    <p:sldId id="275" r:id="rId12"/>
    <p:sldId id="276" r:id="rId13"/>
    <p:sldId id="277" r:id="rId14"/>
    <p:sldId id="278" r:id="rId15"/>
    <p:sldId id="279" r:id="rId16"/>
    <p:sldId id="280" r:id="rId17"/>
    <p:sldId id="281" r:id="rId18"/>
    <p:sldId id="282" r:id="rId19"/>
    <p:sldId id="283" r:id="rId20"/>
    <p:sldId id="290" r:id="rId21"/>
    <p:sldId id="291" r:id="rId22"/>
    <p:sldId id="292" r:id="rId23"/>
    <p:sldId id="293" r:id="rId24"/>
    <p:sldId id="284" r:id="rId25"/>
    <p:sldId id="285" r:id="rId26"/>
    <p:sldId id="261" r:id="rId27"/>
    <p:sldId id="262" r:id="rId28"/>
    <p:sldId id="288" r:id="rId29"/>
    <p:sldId id="287" r:id="rId30"/>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Proxima Nova" panose="020B0604020202020204" charset="0"/>
      <p:regular r:id="rId40"/>
    </p:embeddedFont>
    <p:embeddedFont>
      <p:font typeface="Proxima Nova Rg" panose="02000506030000020004" pitchFamily="2"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5"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A2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4" d="100"/>
          <a:sy n="84" d="100"/>
        </p:scale>
        <p:origin x="629" y="72"/>
      </p:cViewPr>
      <p:guideLst>
        <p:guide orient="horz" pos="2185"/>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CFB804-B040-A348-ADEF-7943BA8E27A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458FFD0-6EB2-2AC1-A146-05A19A1A11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F74A08C-BF92-8D79-678B-6655557C22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6896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D331F727-ADCA-927E-E641-B8EE1962305D}"/>
            </a:ext>
          </a:extLst>
        </p:cNvPr>
        <p:cNvGrpSpPr/>
        <p:nvPr/>
      </p:nvGrpSpPr>
      <p:grpSpPr>
        <a:xfrm>
          <a:off x="0" y="0"/>
          <a:ext cx="0" cy="0"/>
          <a:chOff x="0" y="0"/>
          <a:chExt cx="0" cy="0"/>
        </a:xfrm>
      </p:grpSpPr>
      <p:sp>
        <p:nvSpPr>
          <p:cNvPr id="108" name="Google Shape;108;p5:notes">
            <a:extLst>
              <a:ext uri="{FF2B5EF4-FFF2-40B4-BE49-F238E27FC236}">
                <a16:creationId xmlns:a16="http://schemas.microsoft.com/office/drawing/2014/main" id="{E1762D0F-4160-1069-0B01-42F3F3A0B0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a:extLst>
              <a:ext uri="{FF2B5EF4-FFF2-40B4-BE49-F238E27FC236}">
                <a16:creationId xmlns:a16="http://schemas.microsoft.com/office/drawing/2014/main" id="{A28793A9-D6AB-20D5-57F9-DDFFB10A61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9560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12" name="team_info"/>
          <p:cNvSpPr txBox="1"/>
          <p:nvPr/>
        </p:nvSpPr>
        <p:spPr>
          <a:xfrm>
            <a:off x="2689858" y="3914767"/>
            <a:ext cx="7173675" cy="1292631"/>
          </a:xfrm>
          <a:prstGeom prst="rect">
            <a:avLst/>
          </a:prstGeom>
          <a:noFill/>
          <a:ln>
            <a:noFill/>
          </a:ln>
        </p:spPr>
        <p:txBody>
          <a:bodyPr wrap="square" lIns="91425" tIns="91425" rIns="91425" bIns="91425" anchor="t" anchorCtr="0">
            <a:spAutoFit/>
          </a:bodyPr>
          <a:lstStyle/>
          <a:p>
            <a:pPr marL="0" marR="0" lvl="0" indent="0" rtl="0">
              <a:spcBef>
                <a:spcPts val="0"/>
              </a:spcBef>
              <a:spcAft>
                <a:spcPts val="0"/>
              </a:spcAft>
              <a:buNone/>
            </a:pPr>
            <a:r>
              <a:rPr lang="en-US" sz="1800" b="0" i="0" u="none" strike="noStrike" cap="none" dirty="0">
                <a:solidFill>
                  <a:schemeClr val="tx1"/>
                </a:solidFill>
                <a:latin typeface="Cambria" panose="02040503050406030204" pitchFamily="18" charset="0"/>
                <a:ea typeface="Cambria" panose="02040503050406030204" pitchFamily="18" charset="0"/>
                <a:cs typeface="Proxima Nova" panose="02000506030000020004"/>
                <a:sym typeface="Proxima Nova" panose="02000506030000020004"/>
              </a:rPr>
              <a:t>Team Member 1: </a:t>
            </a:r>
            <a:r>
              <a:rPr lang="en-US" sz="1800" b="1" i="0" u="none" strike="noStrike" cap="none" dirty="0" err="1">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Sharafathusein</a:t>
            </a:r>
            <a:r>
              <a:rPr lang="en-US" sz="1800" b="1" i="0" u="none" strike="noStrike" cap="none"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 Kothariya(92301703020) (6EC1</a:t>
            </a:r>
            <a:r>
              <a:rPr lang="en-US" sz="1800" b="1" i="0" u="none" strike="noStrike" cap="none" dirty="0">
                <a:solidFill>
                  <a:schemeClr val="tx1"/>
                </a:solidFill>
                <a:latin typeface="Cambria" panose="02040503050406030204" pitchFamily="18" charset="0"/>
                <a:ea typeface="Cambria" panose="02040503050406030204" pitchFamily="18" charset="0"/>
                <a:cs typeface="Proxima Nova" panose="02000506030000020004"/>
                <a:sym typeface="Proxima Nova" panose="02000506030000020004"/>
              </a:rPr>
              <a:t>)</a:t>
            </a:r>
            <a:endParaRPr lang="en-US" sz="1800" b="1" dirty="0">
              <a:solidFill>
                <a:schemeClr val="tx1"/>
              </a:solidFill>
              <a:latin typeface="Cambria" panose="02040503050406030204" pitchFamily="18" charset="0"/>
              <a:ea typeface="Cambria" panose="02040503050406030204" pitchFamily="18" charset="0"/>
            </a:endParaRPr>
          </a:p>
          <a:p>
            <a:pPr marL="0" marR="0" lvl="0" indent="0" rtl="0">
              <a:spcBef>
                <a:spcPts val="0"/>
              </a:spcBef>
              <a:spcAft>
                <a:spcPts val="0"/>
              </a:spcAft>
              <a:buNone/>
            </a:pPr>
            <a:r>
              <a:rPr lang="en-US" sz="1800" b="0" i="0" u="none" strike="noStrike" cap="none" dirty="0">
                <a:solidFill>
                  <a:schemeClr val="tx1"/>
                </a:solidFill>
                <a:latin typeface="Cambria" panose="02040503050406030204" pitchFamily="18" charset="0"/>
                <a:ea typeface="Cambria" panose="02040503050406030204" pitchFamily="18" charset="0"/>
                <a:cs typeface="Proxima Nova" panose="02000506030000020004"/>
                <a:sym typeface="Proxima Nova" panose="02000506030000020004"/>
              </a:rPr>
              <a:t>Team Member 2: </a:t>
            </a:r>
            <a:r>
              <a:rPr lang="en-US" sz="1800" b="1"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Shubhra Gupta</a:t>
            </a:r>
            <a:r>
              <a:rPr lang="en-US" sz="1800" b="1" i="0" u="none" strike="noStrike" cap="none"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 (</a:t>
            </a:r>
            <a:r>
              <a:rPr lang="en-US" sz="1800" b="1"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92301703015) (6EC1)</a:t>
            </a:r>
            <a:endParaRPr lang="en-US" sz="1800" b="1"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pPr marL="0" marR="0" lvl="0" indent="0" rtl="0">
              <a:spcBef>
                <a:spcPts val="0"/>
              </a:spcBef>
              <a:spcAft>
                <a:spcPts val="0"/>
              </a:spcAft>
              <a:buNone/>
            </a:pPr>
            <a:r>
              <a:rPr lang="en-US" sz="1800" b="0" i="0" u="none" strike="noStrike" cap="none" dirty="0">
                <a:solidFill>
                  <a:schemeClr val="tx1"/>
                </a:solidFill>
                <a:latin typeface="Cambria" panose="02040503050406030204" pitchFamily="18" charset="0"/>
                <a:ea typeface="Cambria" panose="02040503050406030204" pitchFamily="18" charset="0"/>
                <a:cs typeface="Proxima Nova" panose="02000506030000020004"/>
                <a:sym typeface="Proxima Nova" panose="02000506030000020004"/>
              </a:rPr>
              <a:t>Team Member 3: </a:t>
            </a:r>
            <a:r>
              <a:rPr lang="en-US" sz="1800" b="1" dirty="0" err="1">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Anuska</a:t>
            </a:r>
            <a:r>
              <a:rPr lang="en-US" sz="1800" b="1"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 Singh </a:t>
            </a:r>
            <a:r>
              <a:rPr lang="en-US" sz="1800" b="1" i="0" u="none" strike="noStrike" cap="none"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(92301703037) (</a:t>
            </a:r>
            <a:r>
              <a:rPr lang="en-US" sz="1800" b="1"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6EC1</a:t>
            </a:r>
            <a:r>
              <a:rPr lang="en-US" sz="1800" b="1" i="0" u="none" strike="noStrike" cap="none" dirty="0">
                <a:solidFill>
                  <a:schemeClr val="tx1"/>
                </a:solidFill>
                <a:latin typeface="Cambria" panose="02040503050406030204" pitchFamily="18" charset="0"/>
                <a:ea typeface="Cambria" panose="02040503050406030204" pitchFamily="18" charset="0"/>
                <a:cs typeface="Calibri" panose="020F0502020204030204" pitchFamily="34" charset="0"/>
                <a:sym typeface="Proxima Nova" panose="02000506030000020004"/>
              </a:rPr>
              <a:t>)</a:t>
            </a:r>
            <a:endParaRPr lang="en-US" sz="1800" b="1" dirty="0">
              <a:solidFill>
                <a:schemeClr val="tx1"/>
              </a:solidFill>
              <a:latin typeface="Cambria" panose="02040503050406030204" pitchFamily="18" charset="0"/>
              <a:ea typeface="Cambria" panose="02040503050406030204" pitchFamily="18" charset="0"/>
              <a:cs typeface="Calibri" panose="020F0502020204030204" pitchFamily="34" charset="0"/>
            </a:endParaRPr>
          </a:p>
          <a:p>
            <a:pPr marL="0" marR="0" lvl="0" indent="0" rtl="0">
              <a:spcBef>
                <a:spcPts val="0"/>
              </a:spcBef>
              <a:spcAft>
                <a:spcPts val="0"/>
              </a:spcAft>
              <a:buNone/>
            </a:pPr>
            <a:endPar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EC7BC9E1-1E07-43BB-B665-77A4784BC019}"/>
              </a:ext>
            </a:extLst>
          </p:cNvPr>
          <p:cNvSpPr txBox="1"/>
          <p:nvPr/>
        </p:nvSpPr>
        <p:spPr>
          <a:xfrm>
            <a:off x="3868921" y="1074027"/>
            <a:ext cx="4454157" cy="1767150"/>
          </a:xfrm>
          <a:prstGeom prst="rect">
            <a:avLst/>
          </a:prstGeom>
          <a:noFill/>
        </p:spPr>
        <p:txBody>
          <a:bodyPr wrap="square" rtlCol="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a:t>
            </a:r>
            <a:r>
              <a:rPr lang="en-US" altLang="en-US" sz="32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ini</a:t>
            </a:r>
            <a:r>
              <a:rPr lang="en-US" sz="32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Project (01CE0</a:t>
            </a:r>
            <a:r>
              <a:rPr lang="en-US" altLang="en-US" sz="32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609</a:t>
            </a:r>
            <a:r>
              <a:rPr lang="en-US" sz="32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p>
          <a:p>
            <a:pPr marL="12700" marR="0" lvl="0" indent="0" algn="ctr" rtl="0">
              <a:lnSpc>
                <a:spcPct val="100000"/>
              </a:lnSpc>
              <a:spcBef>
                <a:spcPts val="0"/>
              </a:spcBef>
              <a:spcAft>
                <a:spcPts val="0"/>
              </a:spcAft>
              <a:buClr>
                <a:srgbClr val="04A2B9"/>
              </a:buClr>
              <a:buSzPts val="2200"/>
              <a:buFont typeface="Proxima Nova" panose="02000506030000020004"/>
              <a:buNone/>
            </a:pPr>
            <a:r>
              <a:rPr lang="en-US" altLang="en-US" sz="32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Semester 6</a:t>
            </a:r>
            <a:endParaRPr lang="en-US" sz="3200" b="1" dirty="0">
              <a:latin typeface="Proxima Nova Rg" panose="02000506030000020004" pitchFamily="2" charset="0"/>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Final Review</a:t>
            </a:r>
            <a:b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br>
            <a:r>
              <a:rPr lang="en-US" sz="2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11/04/2026</a:t>
            </a:r>
            <a:endParaRPr lang="en-IN" sz="2200" dirty="0">
              <a:latin typeface="Proxima Nova Rg" panose="02000506030000020004" pitchFamily="2" charset="0"/>
            </a:endParaRPr>
          </a:p>
        </p:txBody>
      </p:sp>
      <p:sp>
        <p:nvSpPr>
          <p:cNvPr id="3" name="TextBox 2">
            <a:extLst>
              <a:ext uri="{FF2B5EF4-FFF2-40B4-BE49-F238E27FC236}">
                <a16:creationId xmlns:a16="http://schemas.microsoft.com/office/drawing/2014/main" id="{76B133A3-BE45-4C26-B350-00EAEBE2378B}"/>
              </a:ext>
            </a:extLst>
          </p:cNvPr>
          <p:cNvSpPr txBox="1"/>
          <p:nvPr/>
        </p:nvSpPr>
        <p:spPr>
          <a:xfrm>
            <a:off x="2328464" y="2690629"/>
            <a:ext cx="7535070" cy="1520929"/>
          </a:xfrm>
          <a:prstGeom prst="rect">
            <a:avLst/>
          </a:prstGeom>
          <a:noFill/>
        </p:spPr>
        <p:txBody>
          <a:bodyPr wrap="square" rtlCol="0">
            <a:sp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b="1" dirty="0">
                <a:solidFill>
                  <a:schemeClr val="tx1"/>
                </a:solidFill>
                <a:latin typeface="Proxima Nova Rg" panose="02000506030000020004" pitchFamily="2" charset="0"/>
                <a:ea typeface="Cambria" panose="02040503050406030204" pitchFamily="18" charset="0"/>
                <a:cs typeface="Proxima Nova" panose="02000506030000020004"/>
                <a:sym typeface="Proxima Nova" panose="02000506030000020004"/>
              </a:rPr>
              <a:t>Hourly Power Consumption For a Smart Home Using Time Series Models</a:t>
            </a:r>
            <a:endParaRPr lang="en-US" sz="2800" b="1" dirty="0">
              <a:solidFill>
                <a:schemeClr val="tx1"/>
              </a:solidFill>
              <a:latin typeface="Proxima Nova Rg" panose="02000506030000020004" pitchFamily="2" charset="0"/>
              <a:ea typeface="Cambria" panose="02040503050406030204" pitchFamily="18" charset="0"/>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Team ID: </a:t>
            </a:r>
            <a:r>
              <a:rPr lang="en-US" sz="2200" b="1" dirty="0">
                <a:solidFill>
                  <a:schemeClr val="tx1"/>
                </a:solidFill>
                <a:latin typeface="Proxima Nova Rg" panose="02000506030000020004" pitchFamily="2" charset="0"/>
                <a:ea typeface="Proxima Nova" panose="02000506030000020004"/>
                <a:cs typeface="Proxima Nova" panose="02000506030000020004"/>
                <a:sym typeface="Proxima Nova" panose="02000506030000020004"/>
              </a:rPr>
              <a:t>T_020</a:t>
            </a:r>
            <a:endParaRPr lang="en-US" sz="2200" b="1" i="0" u="none" strike="noStrike" cap="none" dirty="0">
              <a:solidFill>
                <a:schemeClr val="tx1"/>
              </a:solidFill>
              <a:latin typeface="Proxima Nova Rg" panose="02000506030000020004" pitchFamily="2" charset="0"/>
              <a:ea typeface="Proxima Nova" panose="02000506030000020004"/>
              <a:cs typeface="Proxima Nova" panose="02000506030000020004"/>
              <a:sym typeface="Proxima Nova" panose="02000506030000020004"/>
            </a:endParaRPr>
          </a:p>
          <a:p>
            <a:endParaRPr lang="en-IN" dirty="0"/>
          </a:p>
        </p:txBody>
      </p:sp>
      <p:sp>
        <p:nvSpPr>
          <p:cNvPr id="4" name="TextBox 3">
            <a:extLst>
              <a:ext uri="{FF2B5EF4-FFF2-40B4-BE49-F238E27FC236}">
                <a16:creationId xmlns:a16="http://schemas.microsoft.com/office/drawing/2014/main" id="{ABBFCDAD-3CD6-4D87-BE2E-72D59B5EF679}"/>
              </a:ext>
            </a:extLst>
          </p:cNvPr>
          <p:cNvSpPr txBox="1"/>
          <p:nvPr/>
        </p:nvSpPr>
        <p:spPr>
          <a:xfrm>
            <a:off x="5474675" y="4838066"/>
            <a:ext cx="1242648" cy="369332"/>
          </a:xfrm>
          <a:prstGeom prst="rect">
            <a:avLst/>
          </a:prstGeom>
          <a:noFill/>
        </p:spPr>
        <p:txBody>
          <a:bodyPr wrap="none" rtlCol="0">
            <a:spAutoFit/>
          </a:bodyPr>
          <a:lstStyle/>
          <a:p>
            <a:r>
              <a:rPr lang="en-US" sz="1800" b="0" i="0" u="none" strike="noStrike" cap="none" dirty="0">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5" name="TextBox 4">
            <a:extLst>
              <a:ext uri="{FF2B5EF4-FFF2-40B4-BE49-F238E27FC236}">
                <a16:creationId xmlns:a16="http://schemas.microsoft.com/office/drawing/2014/main" id="{E89D35B1-0823-4F6D-BED0-CF513FC60B2F}"/>
              </a:ext>
            </a:extLst>
          </p:cNvPr>
          <p:cNvSpPr txBox="1"/>
          <p:nvPr/>
        </p:nvSpPr>
        <p:spPr>
          <a:xfrm>
            <a:off x="5102790" y="5093208"/>
            <a:ext cx="2116285" cy="923330"/>
          </a:xfrm>
          <a:prstGeom prst="rect">
            <a:avLst/>
          </a:prstGeom>
          <a:noFill/>
        </p:spPr>
        <p:txBody>
          <a:bodyPr wrap="none" rtlCol="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Internal Guide</a:t>
            </a:r>
          </a:p>
          <a:p>
            <a:pPr algn="ctr"/>
            <a:r>
              <a:rPr lang="en-IN" sz="1800" b="1" dirty="0">
                <a:latin typeface="Proxima Nova Rg" panose="02000506030000020004" pitchFamily="2" charset="0"/>
              </a:rPr>
              <a:t>Prof. Ronak Doshi</a:t>
            </a:r>
          </a:p>
          <a:p>
            <a:pPr algn="ctr"/>
            <a:r>
              <a:rPr lang="en-IN" sz="1800" dirty="0">
                <a:latin typeface="Proxima Nova Rg" panose="02000506030000020004" pitchFamily="2" charset="0"/>
              </a:rPr>
              <a:t>Assistant Professor</a:t>
            </a:r>
          </a:p>
        </p:txBody>
      </p:sp>
      <p:sp>
        <p:nvSpPr>
          <p:cNvPr id="6" name="TextBox 5">
            <a:extLst>
              <a:ext uri="{FF2B5EF4-FFF2-40B4-BE49-F238E27FC236}">
                <a16:creationId xmlns:a16="http://schemas.microsoft.com/office/drawing/2014/main" id="{AFE60FE2-B268-4F19-86BD-D51002E14292}"/>
              </a:ext>
            </a:extLst>
          </p:cNvPr>
          <p:cNvSpPr txBox="1"/>
          <p:nvPr/>
        </p:nvSpPr>
        <p:spPr>
          <a:xfrm>
            <a:off x="3615549" y="5897666"/>
            <a:ext cx="5322291" cy="1569660"/>
          </a:xfrm>
          <a:prstGeom prst="rect">
            <a:avLst/>
          </a:prstGeom>
          <a:noFill/>
        </p:spPr>
        <p:txBody>
          <a:bodyPr wrap="none" rtlCol="0">
            <a:spAutoFit/>
          </a:bodyPr>
          <a:lstStyle/>
          <a:p>
            <a:pPr algn="ctr"/>
            <a:r>
              <a:rPr lang="en-US" sz="2400" dirty="0">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dirty="0">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 </a:t>
            </a:r>
            <a:endParaRPr lang="en-US" sz="2400" dirty="0">
              <a:solidFill>
                <a:schemeClr val="dk1"/>
              </a:solidFill>
              <a:latin typeface="Proxima Nova" panose="02000506030000020004"/>
              <a:ea typeface="Proxima Nova" panose="02000506030000020004"/>
              <a:cs typeface="Proxima Nova" panose="02000506030000020004"/>
              <a:sym typeface="Proxima Nova" panose="02000506030000020004"/>
            </a:endParaRPr>
          </a:p>
          <a:p>
            <a:pPr algn="ctr"/>
            <a:endParaRPr lang="en-US" sz="2400" dirty="0"/>
          </a:p>
          <a:p>
            <a:pPr algn="ct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30"/>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Outline</a:t>
            </a:r>
          </a:p>
        </p:txBody>
      </p:sp>
      <p:sp>
        <p:nvSpPr>
          <p:cNvPr id="106" name="Google Shape;106;p4"/>
          <p:cNvSpPr txBox="1"/>
          <p:nvPr/>
        </p:nvSpPr>
        <p:spPr>
          <a:xfrm>
            <a:off x="546000" y="1123244"/>
            <a:ext cx="11100000" cy="6052909"/>
          </a:xfrm>
          <a:prstGeom prst="rect">
            <a:avLst/>
          </a:prstGeom>
          <a:noFill/>
          <a:ln>
            <a:noFill/>
          </a:ln>
        </p:spPr>
        <p:txBody>
          <a:bodyPr spcFirstLastPara="1" wrap="square" lIns="91425" tIns="91425" rIns="91425" bIns="91425" anchor="t" anchorCtr="0">
            <a:spAutoFit/>
          </a:bodyPr>
          <a:lstStyle/>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Abstract</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Objectives</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Dataset Description</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Data Preprocessing &amp; Feature Engineering</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Methodology &amp; System Architecture </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Literature Review</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Research Gap</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Model Architectures (LSTM, GRU, RF, GBM, Hybrid LSTM+GBM)</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Model Training &amp; Hyperparameters</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Results &amp; Performance Comparison</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Conclusion &amp; Future Work</a:t>
            </a:r>
          </a:p>
          <a:p>
            <a:pPr marL="285750" marR="0" lvl="0" indent="-285750" algn="l" rtl="0">
              <a:spcBef>
                <a:spcPts val="180"/>
              </a:spcBef>
              <a:spcAft>
                <a:spcPts val="0"/>
              </a:spcAft>
              <a:buClr>
                <a:srgbClr val="04A2B9"/>
              </a:buClr>
              <a:buSzPts val="1700"/>
              <a:buFont typeface="Arial"/>
              <a:buChar char="●"/>
            </a:pPr>
            <a:r>
              <a:rPr lang="en-US" sz="2700" b="1"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References</a:t>
            </a:r>
          </a:p>
          <a:p>
            <a:pPr marL="285750" marR="0" lvl="0" indent="-285750" algn="l" rtl="0">
              <a:spcBef>
                <a:spcPts val="180"/>
              </a:spcBef>
              <a:spcAft>
                <a:spcPts val="0"/>
              </a:spcAft>
              <a:buClr>
                <a:srgbClr val="04A2B9"/>
              </a:buClr>
              <a:buSzPts val="1700"/>
              <a:buFont typeface="Arial"/>
              <a:buChar char="●"/>
            </a:pPr>
            <a:endParaRPr lang="en-US" sz="1700" b="1" dirty="0">
              <a:solidFill>
                <a:srgbClr val="444444"/>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180"/>
              </a:spcBef>
              <a:spcAft>
                <a:spcPts val="0"/>
              </a:spcAft>
              <a:buClr>
                <a:srgbClr val="04A2B9"/>
              </a:buClr>
              <a:buSzPts val="1700"/>
              <a:buFont typeface="Arial"/>
              <a:buChar char="●"/>
            </a:pPr>
            <a:endParaRPr lang="en-US" sz="1700" b="1" dirty="0">
              <a:solidFill>
                <a:srgbClr val="444444"/>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30"/>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Abstract</a:t>
            </a:r>
          </a:p>
        </p:txBody>
      </p:sp>
      <p:sp>
        <p:nvSpPr>
          <p:cNvPr id="106" name="Google Shape;106;p4"/>
          <p:cNvSpPr txBox="1"/>
          <p:nvPr/>
        </p:nvSpPr>
        <p:spPr>
          <a:xfrm>
            <a:off x="534259" y="223659"/>
            <a:ext cx="11100000" cy="6417111"/>
          </a:xfrm>
          <a:prstGeom prst="rect">
            <a:avLst/>
          </a:prstGeom>
          <a:noFill/>
          <a:ln>
            <a:noFill/>
          </a:ln>
        </p:spPr>
        <p:txBody>
          <a:bodyPr spcFirstLastPara="1" wrap="square" lIns="91425" tIns="91425" rIns="91425" bIns="91425" anchor="t" anchorCtr="0">
            <a:spAutoFit/>
          </a:bodyPr>
          <a:lstStyle/>
          <a:p>
            <a:pPr marL="0" marR="0" lvl="0" indent="0" algn="just" rtl="0">
              <a:spcBef>
                <a:spcPts val="180"/>
              </a:spcBef>
              <a:spcAft>
                <a:spcPts val="0"/>
              </a:spcAft>
              <a:buNone/>
            </a:pPr>
            <a:endParaRPr lang="en-US" sz="2500" b="0" dirty="0">
              <a:solidFill>
                <a:srgbClr val="444444"/>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180"/>
              </a:spcBef>
              <a:spcAft>
                <a:spcPts val="0"/>
              </a:spcAft>
              <a:buNone/>
            </a:pPr>
            <a:endParaRPr lang="en-US" sz="2500" dirty="0">
              <a:solidFill>
                <a:srgbClr val="444444"/>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180"/>
              </a:spcBef>
              <a:spcAft>
                <a:spcPts val="0"/>
              </a:spcAft>
              <a:buNone/>
            </a:pPr>
            <a:r>
              <a:rPr lang="en-US" sz="25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The rapid growth of energy forecasting technologies has intensified the need for accurate and efficient power consumption management. This project presents a systematic comparative study of five time series forecasting models applied to the publicly available New York Independent System Operator (NYISO) hourly electricity load dataset. The models evaluated are Long Short-Term Memory (LSTM), Gradient Boosting Machine (GBM), Gated Recurrent Unit (GRU), a Hybrid LSTM+GBM ensemble, and Random Forest (RF). Evaluation metrics used are RMSE, MAE, MAPE, and R². The Hybrid LSTM+GBM model achieves the best performance: RMSE of 52.50 MW, MAE of 35.43 MW, MAPE of 0.60%, and R² of 0.9979, representing a 40.3% improvement in RMSE over the GRU baseline. The study confirms that combining the sequential temporal learning of LSTM with the residual error correction strength of GBM yields a highly accurate forecaster for intelligent energy grid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30"/>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Objectives</a:t>
            </a:r>
          </a:p>
        </p:txBody>
      </p:sp>
      <p:sp>
        <p:nvSpPr>
          <p:cNvPr id="106" name="Google Shape;106;p4"/>
          <p:cNvSpPr txBox="1"/>
          <p:nvPr/>
        </p:nvSpPr>
        <p:spPr>
          <a:xfrm>
            <a:off x="546000" y="1299316"/>
            <a:ext cx="11100000" cy="5139838"/>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180"/>
              </a:spcBef>
              <a:spcAft>
                <a:spcPts val="0"/>
              </a:spcAft>
              <a:buClr>
                <a:srgbClr val="04A2B9"/>
              </a:buClr>
              <a:buSzPts val="16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Conduct exploratory data analysis (EDA) on the NYISO hourly electricity load dataset, identifying diurnal, weekly, and seasonal patterns.</a:t>
            </a:r>
          </a:p>
          <a:p>
            <a:pPr marL="285750" marR="0" lvl="0" indent="-285750" algn="just" rtl="0">
              <a:spcBef>
                <a:spcPts val="180"/>
              </a:spcBef>
              <a:spcAft>
                <a:spcPts val="0"/>
              </a:spcAft>
              <a:buClr>
                <a:srgbClr val="04A2B9"/>
              </a:buClr>
              <a:buSzPts val="16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Design and implement a comprehensive data preprocessing pipeline handling missing values, outliers, duplicate timestamps, and feature engineering.</a:t>
            </a:r>
          </a:p>
          <a:p>
            <a:pPr marL="285750" marR="0" lvl="0" indent="-285750" algn="just" rtl="0">
              <a:spcBef>
                <a:spcPts val="180"/>
              </a:spcBef>
              <a:spcAft>
                <a:spcPts val="0"/>
              </a:spcAft>
              <a:buClr>
                <a:srgbClr val="04A2B9"/>
              </a:buClr>
              <a:buSzPts val="16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Implement and train five time series forecasting models - LSTM, GBM, GRU, Hybrid LSTM+GBM, and Random Forest under identical experimental conditions.</a:t>
            </a:r>
          </a:p>
          <a:p>
            <a:pPr marL="285750" marR="0" lvl="0" indent="-285750" algn="just" rtl="0">
              <a:spcBef>
                <a:spcPts val="180"/>
              </a:spcBef>
              <a:spcAft>
                <a:spcPts val="0"/>
              </a:spcAft>
              <a:buClr>
                <a:srgbClr val="04A2B9"/>
              </a:buClr>
              <a:buSzPts val="16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Evaluate all five models on a held-out test set using RMSE, MAE, MAPE, and R² metrics.</a:t>
            </a:r>
          </a:p>
          <a:p>
            <a:pPr marL="285750" marR="0" lvl="0" indent="-285750" algn="just" rtl="0">
              <a:spcBef>
                <a:spcPts val="180"/>
              </a:spcBef>
              <a:spcAft>
                <a:spcPts val="0"/>
              </a:spcAft>
              <a:buClr>
                <a:srgbClr val="04A2B9"/>
              </a:buClr>
              <a:buSzPts val="16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Identify the best-performing model and provide architectural explanations for its superiority.</a:t>
            </a:r>
          </a:p>
          <a:p>
            <a:pPr marL="285750" marR="0" lvl="0" indent="-285750" algn="just" rtl="0">
              <a:spcBef>
                <a:spcPts val="180"/>
              </a:spcBef>
              <a:spcAft>
                <a:spcPts val="0"/>
              </a:spcAft>
              <a:buClr>
                <a:srgbClr val="04A2B9"/>
              </a:buClr>
              <a:buSzPts val="16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Derive practical insights for deploying the identified model in intelligent energy grid management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Dataset Description</a:t>
            </a:r>
          </a:p>
        </p:txBody>
      </p:sp>
      <p:sp>
        <p:nvSpPr>
          <p:cNvPr id="106" name="Google Shape;106;p4"/>
          <p:cNvSpPr txBox="1"/>
          <p:nvPr/>
        </p:nvSpPr>
        <p:spPr>
          <a:xfrm>
            <a:off x="534259" y="500640"/>
            <a:ext cx="11100000" cy="6414546"/>
          </a:xfrm>
          <a:prstGeom prst="rect">
            <a:avLst/>
          </a:prstGeom>
          <a:noFill/>
          <a:ln>
            <a:noFill/>
          </a:ln>
        </p:spPr>
        <p:txBody>
          <a:bodyPr spcFirstLastPara="1" wrap="square" lIns="91425" tIns="91425" rIns="91425" bIns="91425" anchor="t" anchorCtr="0">
            <a:spAutoFit/>
          </a:bodyPr>
          <a:lstStyle/>
          <a:p>
            <a:pPr marL="0" indent="0" algn="just" rtl="0">
              <a:spcBef>
                <a:spcPts val="30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just"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Dataset Source</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New York Independent System Operator (NYISO) — Hourly Integrated Real-Time Actual Load data</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Publicly available at https://www.nyiso.com/load-data — no licence fees required</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5 years of hourly data consolidated → ~43,800 observations (state-wide aggregate)</a:t>
            </a:r>
          </a:p>
          <a:p>
            <a:pPr marL="0" indent="0" algn="just"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Dataset Characteristics</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Fields: Timestamp (Eastern Time), Zone name, Load value (MWh)</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Diurnal pattern: Peak demand 17:00–20:00; nadir 03:00–05:00</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Weekly pattern: Weekday consumption 8–12% higher than weekends</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Seasonal pattern: Summer peak (cooling load) + secondary winter peak (heating)</a:t>
            </a:r>
          </a:p>
          <a:p>
            <a:pPr marL="285750" marR="0" lvl="0" indent="-285750" algn="just"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Distribution: Mean ≈ 17,500 MW, SD ≈ 3,200 MW, slight positive skewness (0.35)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Data Preprocessing &amp; Feature Engineering</a:t>
            </a:r>
          </a:p>
        </p:txBody>
      </p:sp>
      <p:sp>
        <p:nvSpPr>
          <p:cNvPr id="106" name="Google Shape;106;p4"/>
          <p:cNvSpPr txBox="1"/>
          <p:nvPr/>
        </p:nvSpPr>
        <p:spPr>
          <a:xfrm>
            <a:off x="546000" y="1173192"/>
            <a:ext cx="11100000" cy="5339893"/>
          </a:xfrm>
          <a:prstGeom prst="rect">
            <a:avLst/>
          </a:prstGeom>
          <a:noFill/>
          <a:ln>
            <a:noFill/>
          </a:ln>
        </p:spPr>
        <p:txBody>
          <a:bodyPr spcFirstLastPara="1" wrap="square" lIns="91425" tIns="91425" rIns="91425" bIns="91425" anchor="t" anchorCtr="0">
            <a:spAutoFit/>
          </a:bodyPr>
          <a:lstStyle/>
          <a:p>
            <a:pPr marL="0" indent="0" rtl="0">
              <a:spcBef>
                <a:spcPts val="300"/>
              </a:spcBef>
              <a:spcAft>
                <a:spcPts val="0"/>
              </a:spcAft>
              <a:buNone/>
            </a:pPr>
            <a:r>
              <a:rPr lang="en-US" sz="21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Preprocessing Pipeline (5 Steps)</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Step 1 - Data Ingestion: Monthly CSV files loaded via pandas; timestamp parsed to datetime</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Step 2 - Missing Values: Linear interpolation for short gaps (1–3 hrs); forward-fill for single-hour gaps</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Step 3 - Duplicate Timestamps: DST fall-back duplicates resolved by averaging the two load values</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Step 4 - Outlier Detection: 168-hr rolling z-score; |z| &gt; 3.0 → linear interpolation (~0.3% of records)</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Step 5 - Normalisation: MinMaxScaler fitted on training set only; applied to validation &amp; test sets</a:t>
            </a:r>
          </a:p>
          <a:p>
            <a:pPr marL="0" indent="0" rtl="0">
              <a:spcBef>
                <a:spcPts val="300"/>
              </a:spcBef>
              <a:spcAft>
                <a:spcPts val="0"/>
              </a:spcAft>
              <a:buNone/>
            </a:pPr>
            <a:r>
              <a:rPr lang="en-US" sz="21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Feature Engineering - 14 Input Features</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Temporal (5): hour_of_day, day_of_week, day_of_month, month, is_weekend</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Lag features (7): lag_1h, lag_2h, lag_3h, lag_6h, lag_12h, lag_24h, lag_168h</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Rolling statistics (2): rolling_mean_24h, rolling_std_24h</a:t>
            </a:r>
          </a:p>
          <a:p>
            <a:pPr marL="285750" marR="0" lvl="0" indent="-285750" rtl="0">
              <a:spcBef>
                <a:spcPts val="180"/>
              </a:spcBef>
              <a:spcAft>
                <a:spcPts val="0"/>
              </a:spcAft>
              <a:buClr>
                <a:srgbClr val="04A2B9"/>
              </a:buClr>
              <a:buSzPts val="14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Dataset split: Training 70% | Validation 15% | Test 15% (chronological — no data leakage)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Methodology </a:t>
            </a:r>
            <a:r>
              <a:rPr lang="en-US" sz="36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System Architecture</a:t>
            </a:r>
          </a:p>
        </p:txBody>
      </p:sp>
      <p:sp>
        <p:nvSpPr>
          <p:cNvPr id="106" name="Google Shape;106;p4"/>
          <p:cNvSpPr txBox="1"/>
          <p:nvPr/>
        </p:nvSpPr>
        <p:spPr>
          <a:xfrm>
            <a:off x="470251" y="981168"/>
            <a:ext cx="11100000" cy="913040"/>
          </a:xfrm>
          <a:prstGeom prst="rect">
            <a:avLst/>
          </a:prstGeom>
          <a:noFill/>
          <a:ln>
            <a:noFill/>
          </a:ln>
        </p:spPr>
        <p:txBody>
          <a:bodyPr spcFirstLastPara="1" wrap="square" lIns="91425" tIns="91425" rIns="91425" bIns="91425" anchor="t" anchorCtr="0">
            <a:spAutoFit/>
          </a:bodyPr>
          <a:lstStyle/>
          <a:p>
            <a:pPr marL="0" marR="0" lvl="0" indent="0" algn="l" rtl="0">
              <a:spcBef>
                <a:spcPts val="18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System Architecture - Five-Stage Modular Diagram</a:t>
            </a:r>
          </a:p>
          <a:p>
            <a:pPr marL="0" marR="0" lvl="0" indent="0" algn="l" rtl="0">
              <a:spcBef>
                <a:spcPts val="18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3" name="Picture 2">
            <a:extLst>
              <a:ext uri="{FF2B5EF4-FFF2-40B4-BE49-F238E27FC236}">
                <a16:creationId xmlns:a16="http://schemas.microsoft.com/office/drawing/2014/main" id="{9233AF72-5130-47FB-9555-7E2543DC51E8}"/>
              </a:ext>
            </a:extLst>
          </p:cNvPr>
          <p:cNvPicPr>
            <a:picLocks noChangeAspect="1"/>
          </p:cNvPicPr>
          <p:nvPr/>
        </p:nvPicPr>
        <p:blipFill>
          <a:blip r:embed="rId3"/>
          <a:stretch>
            <a:fillRect/>
          </a:stretch>
        </p:blipFill>
        <p:spPr>
          <a:xfrm>
            <a:off x="295270" y="2305688"/>
            <a:ext cx="11601459" cy="3069585"/>
          </a:xfrm>
          <a:prstGeom prst="rect">
            <a:avLst/>
          </a:prstGeom>
        </p:spPr>
      </p:pic>
    </p:spTree>
    <p:extLst>
      <p:ext uri="{BB962C8B-B14F-4D97-AF65-F5344CB8AC3E}">
        <p14:creationId xmlns:p14="http://schemas.microsoft.com/office/powerpoint/2010/main" val="553145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Methodology </a:t>
            </a:r>
            <a:r>
              <a:rPr lang="en-US" sz="36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System Architecture</a:t>
            </a:r>
          </a:p>
        </p:txBody>
      </p:sp>
      <p:sp>
        <p:nvSpPr>
          <p:cNvPr id="106" name="Google Shape;106;p4"/>
          <p:cNvSpPr txBox="1"/>
          <p:nvPr/>
        </p:nvSpPr>
        <p:spPr>
          <a:xfrm>
            <a:off x="470251" y="981168"/>
            <a:ext cx="11100000" cy="5883632"/>
          </a:xfrm>
          <a:prstGeom prst="rect">
            <a:avLst/>
          </a:prstGeom>
          <a:noFill/>
          <a:ln>
            <a:noFill/>
          </a:ln>
        </p:spPr>
        <p:txBody>
          <a:bodyPr spcFirstLastPara="1" wrap="square" lIns="91425" tIns="91425" rIns="91425" bIns="91425" anchor="t" anchorCtr="0">
            <a:spAutoFit/>
          </a:bodyPr>
          <a:lstStyle/>
          <a:p>
            <a:pPr marL="0" marR="0" lvl="0" indent="0" algn="l" rtl="0">
              <a:spcBef>
                <a:spcPts val="18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System Architecture - Five-Stage Modular Diagram</a:t>
            </a:r>
          </a:p>
          <a:p>
            <a:pPr marL="0" marR="0" lvl="0" indent="0" algn="l" rtl="0">
              <a:spcBef>
                <a:spcPts val="18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  Stage 1:  DATA INGESTION  -  Load &amp; consolidate NYISO monthly CSV files; parse timestamps</a:t>
            </a:r>
          </a:p>
          <a:p>
            <a:pPr marL="0" marR="0" lvl="0" indent="0" algn="l" rtl="0">
              <a:spcBef>
                <a:spcPts val="180"/>
              </a:spcBef>
              <a:spcAft>
                <a:spcPts val="0"/>
              </a:spcAft>
              <a:buNone/>
            </a:pPr>
            <a:r>
              <a:rPr lang="en-US" sz="2200" b="0"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p>
          <a:p>
            <a:pPr marL="0" marR="0" lvl="0" indent="0" algn="l" rtl="0">
              <a:spcBef>
                <a:spcPts val="180"/>
              </a:spcBef>
              <a:spcAft>
                <a:spcPts val="0"/>
              </a:spcAft>
              <a:buNone/>
            </a:pPr>
            <a:r>
              <a:rPr lang="en-US" sz="22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  Stage 2:  DATA PREPROCESSING  -  Missing values, DST duplicates, outlier replacement, normalisation</a:t>
            </a:r>
          </a:p>
          <a:p>
            <a:pPr marL="0" marR="0" lvl="0" indent="0" algn="l" rtl="0">
              <a:spcBef>
                <a:spcPts val="180"/>
              </a:spcBef>
              <a:spcAft>
                <a:spcPts val="0"/>
              </a:spcAft>
              <a:buNone/>
            </a:pPr>
            <a:r>
              <a:rPr lang="en-US" sz="2200" b="0"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p>
          <a:p>
            <a:pPr marL="0" marR="0" lvl="0" indent="0" algn="l" rtl="0">
              <a:spcBef>
                <a:spcPts val="180"/>
              </a:spcBef>
              <a:spcAft>
                <a:spcPts val="0"/>
              </a:spcAft>
              <a:buNone/>
            </a:pPr>
            <a:r>
              <a:rPr lang="en-US" sz="22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  Stage 3:  FEATURE EXTRACTION &amp; SPLITTING  -  14 features; 70/15/15 chronological split; 3D tensors for DL, 2D for ML</a:t>
            </a:r>
          </a:p>
          <a:p>
            <a:pPr marL="0" marR="0" lvl="0" indent="0" algn="l" rtl="0">
              <a:spcBef>
                <a:spcPts val="180"/>
              </a:spcBef>
              <a:spcAft>
                <a:spcPts val="0"/>
              </a:spcAft>
              <a:buNone/>
            </a:pPr>
            <a:r>
              <a:rPr lang="en-US" sz="2200" b="0"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p>
          <a:p>
            <a:pPr marL="0" marR="0" lvl="0" indent="0" algn="l" rtl="0">
              <a:spcBef>
                <a:spcPts val="180"/>
              </a:spcBef>
              <a:spcAft>
                <a:spcPts val="0"/>
              </a:spcAft>
              <a:buNone/>
            </a:pPr>
            <a:r>
              <a:rPr lang="en-US" sz="22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  Stage 4:  MODEL TRAINING  -  LSTM | GRU | GBM | Random Forest | Hybrid LSTM+GBM  (early stopping, fixed seed=42)</a:t>
            </a:r>
          </a:p>
          <a:p>
            <a:pPr marL="0" marR="0" lvl="0" indent="0" algn="l" rtl="0">
              <a:spcBef>
                <a:spcPts val="180"/>
              </a:spcBef>
              <a:spcAft>
                <a:spcPts val="0"/>
              </a:spcAft>
              <a:buNone/>
            </a:pPr>
            <a:r>
              <a:rPr lang="en-US" sz="2200" b="0"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p>
          <a:p>
            <a:pPr marL="0" marR="0" lvl="0" indent="0" algn="l" rtl="0">
              <a:spcBef>
                <a:spcPts val="180"/>
              </a:spcBef>
              <a:spcAft>
                <a:spcPts val="0"/>
              </a:spcAft>
              <a:buNone/>
            </a:pPr>
            <a:r>
              <a:rPr lang="en-US" sz="22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  Stage 5:  MODEL VALIDATION  -  RMSE, MAE, MAPE, R² on held-out test set; forecast-vs-actual plots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Literature Review</a:t>
            </a:r>
          </a:p>
        </p:txBody>
      </p:sp>
      <p:sp>
        <p:nvSpPr>
          <p:cNvPr id="106" name="Google Shape;106;p4"/>
          <p:cNvSpPr txBox="1"/>
          <p:nvPr/>
        </p:nvSpPr>
        <p:spPr>
          <a:xfrm>
            <a:off x="534259" y="1054320"/>
            <a:ext cx="11100000" cy="4031843"/>
          </a:xfrm>
          <a:prstGeom prst="rect">
            <a:avLst/>
          </a:prstGeom>
          <a:noFill/>
          <a:ln>
            <a:noFill/>
          </a:ln>
        </p:spPr>
        <p:txBody>
          <a:bodyPr spcFirstLastPara="1" wrap="square" lIns="91425" tIns="91425" rIns="91425" bIns="91425" anchor="t" anchorCtr="0">
            <a:spAutoFit/>
          </a:bodyPr>
          <a:lstStyle/>
          <a:p>
            <a:pPr algn="just"/>
            <a:r>
              <a:rPr lang="en-US" sz="2400" b="1" dirty="0">
                <a:solidFill>
                  <a:srgbClr val="04A2B9"/>
                </a:solidFill>
                <a:latin typeface="Proxima Nova Rg" panose="02000506030000020004" pitchFamily="2" charset="0"/>
              </a:rPr>
              <a:t>Statistical Approaches </a:t>
            </a:r>
            <a:r>
              <a:rPr lang="en-US" sz="2400" b="1" dirty="0">
                <a:solidFill>
                  <a:schemeClr val="tx1"/>
                </a:solidFill>
                <a:latin typeface="Proxima Nova Rg" panose="02000506030000020004" pitchFamily="2" charset="0"/>
              </a:rPr>
              <a:t>- The Baseline</a:t>
            </a:r>
            <a:r>
              <a:rPr lang="en-US" sz="2400" dirty="0">
                <a:solidFill>
                  <a:schemeClr val="tx1"/>
                </a:solidFill>
                <a:latin typeface="Proxima Nova Rg" panose="02000506030000020004" pitchFamily="2" charset="0"/>
              </a:rPr>
              <a:t> </a:t>
            </a:r>
          </a:p>
          <a:p>
            <a:pPr algn="just"/>
            <a:r>
              <a:rPr lang="en-US" sz="2400" dirty="0">
                <a:latin typeface="Proxima Nova Rg" panose="02000506030000020004" pitchFamily="2" charset="0"/>
              </a:rPr>
              <a:t>Early forecasting methods relied on ARIMA and SARIMA models. While effective for linear, stable demand patterns [6][7], these statistical approaches fundamentally fail to capture the nonlinear, multi-scale periodicities of real-world hourly grid data, motivating the shift toward machine learning.</a:t>
            </a:r>
          </a:p>
          <a:p>
            <a:pPr algn="just"/>
            <a:endParaRPr lang="en-US" sz="2400" dirty="0">
              <a:latin typeface="Proxima Nova Rg" panose="02000506030000020004" pitchFamily="2" charset="0"/>
            </a:endParaRPr>
          </a:p>
          <a:p>
            <a:pPr algn="just"/>
            <a:r>
              <a:rPr lang="en-US" sz="2400" b="1" dirty="0">
                <a:solidFill>
                  <a:srgbClr val="04A2B9"/>
                </a:solidFill>
                <a:latin typeface="Proxima Nova Rg" panose="02000506030000020004" pitchFamily="2" charset="0"/>
              </a:rPr>
              <a:t>Machine Learning </a:t>
            </a:r>
            <a:r>
              <a:rPr lang="en-US" sz="2400" b="1" dirty="0">
                <a:solidFill>
                  <a:schemeClr val="tx1"/>
                </a:solidFill>
                <a:latin typeface="Proxima Nova Rg" panose="02000506030000020004" pitchFamily="2" charset="0"/>
              </a:rPr>
              <a:t>- Handling Nonlinearity</a:t>
            </a:r>
            <a:r>
              <a:rPr lang="en-US" sz="2400" dirty="0">
                <a:solidFill>
                  <a:schemeClr val="tx1"/>
                </a:solidFill>
                <a:latin typeface="Proxima Nova Rg" panose="02000506030000020004" pitchFamily="2" charset="0"/>
              </a:rPr>
              <a:t> </a:t>
            </a:r>
          </a:p>
          <a:p>
            <a:pPr algn="just"/>
            <a:r>
              <a:rPr lang="en-US" sz="2400" dirty="0">
                <a:latin typeface="Proxima Nova Rg" panose="02000506030000020004" pitchFamily="2" charset="0"/>
              </a:rPr>
              <a:t>Tree-based ensemble methods emerged as a strong alternative. Bilal et al. [8] showed that Gradient Boosting and Random Forest offer the best accuracy-efficiency trade-off for energy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Literature Review</a:t>
            </a:r>
          </a:p>
        </p:txBody>
      </p:sp>
      <p:sp>
        <p:nvSpPr>
          <p:cNvPr id="106" name="Google Shape;106;p4"/>
          <p:cNvSpPr txBox="1"/>
          <p:nvPr/>
        </p:nvSpPr>
        <p:spPr>
          <a:xfrm>
            <a:off x="534259" y="1184012"/>
            <a:ext cx="11100000" cy="5355282"/>
          </a:xfrm>
          <a:prstGeom prst="rect">
            <a:avLst/>
          </a:prstGeom>
          <a:noFill/>
          <a:ln>
            <a:noFill/>
          </a:ln>
        </p:spPr>
        <p:txBody>
          <a:bodyPr spcFirstLastPara="1" wrap="square" lIns="91425" tIns="91425" rIns="91425" bIns="91425" anchor="t" anchorCtr="0">
            <a:spAutoFit/>
          </a:bodyPr>
          <a:lstStyle/>
          <a:p>
            <a:pPr algn="just"/>
            <a:r>
              <a:rPr lang="en-IN" sz="2400" b="1" dirty="0">
                <a:solidFill>
                  <a:srgbClr val="04A2B9"/>
                </a:solidFill>
                <a:latin typeface="Proxima Nova Rg" panose="02000506030000020004" pitchFamily="2" charset="0"/>
              </a:rPr>
              <a:t>Deep Learning </a:t>
            </a:r>
            <a:r>
              <a:rPr lang="en-IN" sz="2400" b="1" dirty="0">
                <a:latin typeface="Proxima Nova Rg" panose="02000506030000020004" pitchFamily="2" charset="0"/>
              </a:rPr>
              <a:t>- Capturing Temporal Dependencies</a:t>
            </a:r>
            <a:r>
              <a:rPr lang="en-IN" sz="2400" dirty="0">
                <a:latin typeface="Proxima Nova Rg" panose="02000506030000020004" pitchFamily="2" charset="0"/>
              </a:rPr>
              <a:t> </a:t>
            </a:r>
          </a:p>
          <a:p>
            <a:pPr algn="just"/>
            <a:r>
              <a:rPr lang="en-IN" sz="2400" dirty="0">
                <a:latin typeface="Proxima Nova Rg" panose="02000506030000020004" pitchFamily="2" charset="0"/>
              </a:rPr>
              <a:t>LSTM networks [10] overcame the vanishing gradient problem of standard RNNs, enabling long-range sequence learning. Qureshi et al. [9] confirmed LSTM substantially outperforms ARIMA on electricity demand.</a:t>
            </a:r>
          </a:p>
          <a:p>
            <a:pPr algn="just"/>
            <a:endParaRPr lang="en-IN" sz="2400" b="1" dirty="0">
              <a:solidFill>
                <a:srgbClr val="04A2B9"/>
              </a:solidFill>
              <a:latin typeface="Proxima Nova Rg" panose="02000506030000020004" pitchFamily="2" charset="0"/>
            </a:endParaRPr>
          </a:p>
          <a:p>
            <a:pPr algn="just"/>
            <a:r>
              <a:rPr lang="en-IN" sz="2400" b="1" dirty="0">
                <a:solidFill>
                  <a:srgbClr val="04A2B9"/>
                </a:solidFill>
                <a:latin typeface="Proxima Nova Rg" panose="02000506030000020004" pitchFamily="2" charset="0"/>
              </a:rPr>
              <a:t>Hybrid Models </a:t>
            </a:r>
            <a:r>
              <a:rPr lang="en-IN" sz="2400" b="1" dirty="0">
                <a:latin typeface="Proxima Nova Rg" panose="02000506030000020004" pitchFamily="2" charset="0"/>
              </a:rPr>
              <a:t>- The Current Frontier</a:t>
            </a:r>
            <a:r>
              <a:rPr lang="en-IN" sz="2400" dirty="0">
                <a:latin typeface="Proxima Nova Rg" panose="02000506030000020004" pitchFamily="2" charset="0"/>
              </a:rPr>
              <a:t> </a:t>
            </a:r>
          </a:p>
          <a:p>
            <a:pPr algn="just"/>
            <a:r>
              <a:rPr lang="en-IN" sz="2400" dirty="0">
                <a:latin typeface="Proxima Nova Rg" panose="02000506030000020004" pitchFamily="2" charset="0"/>
              </a:rPr>
              <a:t>Recent studies combine multiple paradigms for superior results. </a:t>
            </a:r>
            <a:r>
              <a:rPr lang="en-IN" sz="2400" dirty="0" err="1">
                <a:latin typeface="Proxima Nova Rg" panose="02000506030000020004" pitchFamily="2" charset="0"/>
              </a:rPr>
              <a:t>Hammou</a:t>
            </a:r>
            <a:r>
              <a:rPr lang="en-IN" sz="2400" dirty="0">
                <a:latin typeface="Proxima Nova Rg" panose="02000506030000020004" pitchFamily="2" charset="0"/>
              </a:rPr>
              <a:t> </a:t>
            </a:r>
            <a:r>
              <a:rPr lang="en-IN" sz="2400" dirty="0" err="1">
                <a:latin typeface="Proxima Nova Rg" panose="02000506030000020004" pitchFamily="2" charset="0"/>
              </a:rPr>
              <a:t>Ou</a:t>
            </a:r>
            <a:r>
              <a:rPr lang="en-IN" sz="2400" dirty="0">
                <a:latin typeface="Proxima Nova Rg" panose="02000506030000020004" pitchFamily="2" charset="0"/>
              </a:rPr>
              <a:t> Ali et al. [12] proposed a CNN-RNN hybrid for energy forecasting. Ngo et al. [22] demonstrated SARIMA-SVR for building energy. </a:t>
            </a:r>
          </a:p>
          <a:p>
            <a:pPr algn="just"/>
            <a:endParaRPr lang="en-IN" sz="2400" b="1" dirty="0">
              <a:solidFill>
                <a:srgbClr val="04A2B9"/>
              </a:solidFill>
              <a:latin typeface="Proxima Nova Rg" panose="02000506030000020004" pitchFamily="2" charset="0"/>
            </a:endParaRPr>
          </a:p>
          <a:p>
            <a:pPr algn="just"/>
            <a:r>
              <a:rPr lang="en-IN" sz="2400" b="1" dirty="0">
                <a:solidFill>
                  <a:srgbClr val="04A2B9"/>
                </a:solidFill>
                <a:latin typeface="Proxima Nova Rg" panose="02000506030000020004" pitchFamily="2" charset="0"/>
              </a:rPr>
              <a:t>Critical Gap Identified</a:t>
            </a:r>
            <a:r>
              <a:rPr lang="en-IN" sz="2400" dirty="0">
                <a:solidFill>
                  <a:srgbClr val="04A2B9"/>
                </a:solidFill>
                <a:latin typeface="Proxima Nova Rg" panose="02000506030000020004" pitchFamily="2" charset="0"/>
              </a:rPr>
              <a:t> </a:t>
            </a:r>
          </a:p>
          <a:p>
            <a:pPr algn="just"/>
            <a:r>
              <a:rPr lang="en-IN" sz="2400" dirty="0">
                <a:latin typeface="Proxima Nova Rg" panose="02000506030000020004" pitchFamily="2" charset="0"/>
              </a:rPr>
              <a:t>No prior work performs a unified comparison of deep learning, ensemble ML, and a two-stage LSTM+GBM hybrid on the same hourly grid dataset under consistent experimental conditions - which this project directly addresses.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Research Gap</a:t>
            </a:r>
          </a:p>
        </p:txBody>
      </p:sp>
      <p:sp>
        <p:nvSpPr>
          <p:cNvPr id="106" name="Google Shape;106;p4"/>
          <p:cNvSpPr txBox="1"/>
          <p:nvPr/>
        </p:nvSpPr>
        <p:spPr>
          <a:xfrm>
            <a:off x="534259" y="1148337"/>
            <a:ext cx="11100000" cy="5480957"/>
          </a:xfrm>
          <a:prstGeom prst="rect">
            <a:avLst/>
          </a:prstGeom>
          <a:noFill/>
          <a:ln>
            <a:noFill/>
          </a:ln>
        </p:spPr>
        <p:txBody>
          <a:bodyPr spcFirstLastPara="1" wrap="square" lIns="91425" tIns="91425" rIns="91425" bIns="91425" anchor="t" anchorCtr="0">
            <a:spAutoFit/>
          </a:bodyPr>
          <a:lstStyle/>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No comprehensive comparative evaluation of heterogeneous model families (DL + ML ensemble + hybrid) on the same electricity load dataset under unified experimental conditions exists in prior literature.</a:t>
            </a:r>
          </a:p>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Classical statistical models (ARIMA, SARIMA) cannot capture nonlinear, multi-scale periodicities in real-world hourly grid data.</a:t>
            </a:r>
          </a:p>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Existing ML models deployed in isolation — no systematic benchmark against deep learning or hybrid architectures.</a:t>
            </a:r>
          </a:p>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A two-stage hybrid combining LSTM’s temporal learning with GBM’s gradient-based residual correction for hourly grid-level forecasting had not been previously explored.</a:t>
            </a:r>
          </a:p>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Evaluation protocols in published studies are inconsistent — different datasets, split strategies, and metrics prevent direct comparison.</a:t>
            </a: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This Project Addresses:</a:t>
            </a:r>
          </a:p>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Unified five-model comparison on NYISO data under identical conditions with fixed random seed (42)</a:t>
            </a:r>
          </a:p>
          <a:p>
            <a:pPr marL="285750" marR="0" lvl="0" indent="-285750" algn="l" rtl="0">
              <a:spcBef>
                <a:spcPts val="180"/>
              </a:spcBef>
              <a:spcAft>
                <a:spcPts val="0"/>
              </a:spcAft>
              <a:buClr>
                <a:srgbClr val="04A2B9"/>
              </a:buClr>
              <a:buSzPts val="16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Novel Hybrid LSTM+GBM two-stage architecture as principal research contribution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Model Architecture - LSTM</a:t>
            </a:r>
          </a:p>
        </p:txBody>
      </p:sp>
      <p:sp>
        <p:nvSpPr>
          <p:cNvPr id="106" name="Google Shape;106;p4"/>
          <p:cNvSpPr txBox="1"/>
          <p:nvPr/>
        </p:nvSpPr>
        <p:spPr>
          <a:xfrm>
            <a:off x="534259" y="641723"/>
            <a:ext cx="11100000" cy="5999048"/>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Long Short-Term Memory (LSTM)</a:t>
            </a:r>
          </a:p>
          <a:p>
            <a:pPr marL="0" marR="0" lvl="0" indent="0" algn="l" rtl="0">
              <a:spcBef>
                <a:spcPts val="180"/>
              </a:spcBef>
              <a:spcAft>
                <a:spcPts val="0"/>
              </a:spcAft>
              <a:buNone/>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LSTM networks maintain a cell state cₜ alongside hidden state hₜ, updated through three gates: forget gate (what to discard), input gate (what to write), and output gate (what to expose). This prevents vanishing gradient degradation across long sequences.</a:t>
            </a:r>
          </a:p>
          <a:p>
            <a:pPr marL="0" marR="0" lvl="0" indent="0" algn="l" rtl="0">
              <a:spcBef>
                <a:spcPts val="180"/>
              </a:spcBef>
              <a:spcAft>
                <a:spcPts val="0"/>
              </a:spcAft>
              <a:buNone/>
            </a:pPr>
            <a:endPar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Architecture &amp; Hyperparameters</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2 stacked LSTM layers: 128 units → 64 units</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Dropout = 0.2 after each layer (regularisation)</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Dense output layer: 1 unit (hourly load prediction)</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Optimiser: Adam (lr = 0.001) | Loss: MSE</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Batch size: 64 | Max epochs: 100</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Early stopping: patience = 10 (monitor val_loss)</a:t>
            </a:r>
          </a:p>
          <a:p>
            <a:pPr marL="285750" marR="0" lvl="0" indent="-285750" algn="l" rtl="0">
              <a:spcBef>
                <a:spcPts val="180"/>
              </a:spcBef>
              <a:spcAft>
                <a:spcPts val="0"/>
              </a:spcAft>
              <a:buClr>
                <a:srgbClr val="04A2B9"/>
              </a:buClr>
              <a:buSzPts val="150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Input: 3D tensor (samples, 24, 14) — 24-hour lookback window</a:t>
            </a:r>
          </a:p>
          <a:p>
            <a:pPr marL="0" marR="0" lvl="0" indent="0" algn="l" rtl="0">
              <a:spcBef>
                <a:spcPts val="180"/>
              </a:spcBef>
              <a:spcAft>
                <a:spcPts val="0"/>
              </a:spcAft>
              <a:buNone/>
            </a:pPr>
            <a:endPar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Test Performance:  RMSE = 78.34 MW  |  MAE = 58.22 MW  |  MAPE = 1.03%  |  R² = 0.9954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Model Architecture - GRU</a:t>
            </a:r>
          </a:p>
        </p:txBody>
      </p:sp>
      <p:sp>
        <p:nvSpPr>
          <p:cNvPr id="106" name="Google Shape;106;p4"/>
          <p:cNvSpPr txBox="1"/>
          <p:nvPr/>
        </p:nvSpPr>
        <p:spPr>
          <a:xfrm>
            <a:off x="534259" y="624552"/>
            <a:ext cx="11100000" cy="6465842"/>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Gated Recurrent Unit (GRU)</a:t>
            </a:r>
          </a:p>
          <a:p>
            <a:pPr marL="0" marR="0" lvl="0" indent="0" algn="l" rtl="0">
              <a:spcBef>
                <a:spcPts val="180"/>
              </a:spcBef>
              <a:spcAft>
                <a:spcPts val="0"/>
              </a:spcAft>
              <a:buNone/>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GRU simplifies LSTM by combining the forget and input gates into a single update gate zₜ and introducing a reset gate rₜ. This reduces trainable parameters by ~25% vs. equivalent LSTM while maintaining comparable temporal modelling capacity.</a:t>
            </a:r>
          </a:p>
          <a:p>
            <a:pPr marL="0" marR="0" lvl="0" indent="0" algn="l" rtl="0">
              <a:spcBef>
                <a:spcPts val="180"/>
              </a:spcBef>
              <a:spcAft>
                <a:spcPts val="0"/>
              </a:spcAft>
              <a:buNone/>
            </a:pPr>
            <a:endPar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Architecture &amp; Hyperparameters</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2 stacked GRU layers: 128 units → 64 units</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Dropout = 0.2 after each layer</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Dense output layer: 1 unit</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Optimiser: Adam (lr = 0.001) | Loss: MSE | Batch: 64</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Early stopping: patience = 10 (val_loss) | Max epochs: 100</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Input: 3D tensor (samples, 24, 14) — same as LSTM for fair comparison</a:t>
            </a:r>
          </a:p>
          <a:p>
            <a:pPr marL="0" marR="0" lvl="0" indent="0" algn="l" rtl="0">
              <a:spcBef>
                <a:spcPts val="180"/>
              </a:spcBef>
              <a:spcAft>
                <a:spcPts val="0"/>
              </a:spcAft>
              <a:buNone/>
            </a:pPr>
            <a:endPar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Test Performance:  RMSE = 87.98 MW  |  MAE = 63.85 MW  |  MAPE = 1.10%  |  R² = 0.9941  (Deep learning baseline)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Model Architecture - Random Forest</a:t>
            </a:r>
          </a:p>
        </p:txBody>
      </p:sp>
      <p:sp>
        <p:nvSpPr>
          <p:cNvPr id="106" name="Google Shape;106;p4"/>
          <p:cNvSpPr txBox="1"/>
          <p:nvPr/>
        </p:nvSpPr>
        <p:spPr>
          <a:xfrm>
            <a:off x="534259" y="569909"/>
            <a:ext cx="11100000" cy="6070862"/>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Random Forest (RF)</a:t>
            </a:r>
          </a:p>
          <a:p>
            <a:pPr marL="0" marR="0" lvl="0" indent="0" algn="l" rtl="0">
              <a:spcBef>
                <a:spcPts val="180"/>
              </a:spcBef>
              <a:spcAft>
                <a:spcPts val="0"/>
              </a:spcAft>
              <a:buNone/>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Random Forest constructs n_estimators independent decision trees on bootstrap samples, with feature subsampling (max_features = sqrt) at each split to decorrelate trees. The final prediction is the average of all tree outputs.</a:t>
            </a:r>
          </a:p>
          <a:p>
            <a:pPr marL="0" marR="0" lvl="0" indent="0" algn="l" rtl="0">
              <a:spcBef>
                <a:spcPts val="180"/>
              </a:spcBef>
              <a:spcAft>
                <a:spcPts val="0"/>
              </a:spcAft>
              <a:buNone/>
            </a:pPr>
            <a:endPar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Architecture &amp; Hyperparameters</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n_estimators = 300 | max_depth = None (full depth)</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min_samples_split = 2 | max_features = sqrt</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bootstrap = True | random_state = 42</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Input: 2D feature matrix (samples, 14)</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Feature importance (Gini) extracted for interpretability</a:t>
            </a:r>
          </a:p>
          <a:p>
            <a:pPr marL="0" marR="0" lvl="0" indent="0" algn="l" rtl="0">
              <a:spcBef>
                <a:spcPts val="180"/>
              </a:spcBef>
              <a:spcAft>
                <a:spcPts val="0"/>
              </a:spcAft>
              <a:buNone/>
            </a:pPr>
            <a:endPar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Test Performance:  RMSE = 72.94 MW  |  MAE = 51.04 MW  |  MAPE = 8.87%  |  R² = 0.9960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Model Architecture - GBM</a:t>
            </a:r>
          </a:p>
        </p:txBody>
      </p:sp>
      <p:sp>
        <p:nvSpPr>
          <p:cNvPr id="106" name="Google Shape;106;p4"/>
          <p:cNvSpPr txBox="1"/>
          <p:nvPr/>
        </p:nvSpPr>
        <p:spPr>
          <a:xfrm>
            <a:off x="534259" y="664027"/>
            <a:ext cx="11100000" cy="6193973"/>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Gradient Boosting Machine - GBM</a:t>
            </a:r>
          </a:p>
          <a:p>
            <a:pPr marL="0" marR="0" lvl="0" indent="0" algn="l" rtl="0">
              <a:spcBef>
                <a:spcPts val="180"/>
              </a:spcBef>
              <a:spcAft>
                <a:spcPts val="0"/>
              </a:spcAft>
              <a:buNone/>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GBM iteratively adds decision tree estimators, each trained to predict the negative gradient (residuals) of the current ensemble’s loss. This additive residual correction is also the theoretical foundation for the Hybrid model.</a:t>
            </a:r>
          </a:p>
          <a:p>
            <a:pPr marL="0" marR="0" lvl="0" indent="0" algn="l" rtl="0">
              <a:spcBef>
                <a:spcPts val="180"/>
              </a:spcBef>
              <a:spcAft>
                <a:spcPts val="0"/>
              </a:spcAft>
              <a:buNone/>
            </a:pPr>
            <a:endPar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Architecture &amp; Hyperparameters</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n_estimators = 500 | max_depth = 6</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learning_rate = 0.05 | subsample = 0.8 | colsample_bytree = 0.8</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reg_lambda = 1 | Early stopping: 50 rounds on validation RMSE</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Input: 2D feature matrix (samples, 14)</a:t>
            </a:r>
          </a:p>
          <a:p>
            <a:pPr marL="0" marR="0" lvl="0" indent="0" algn="l" rtl="0">
              <a:spcBef>
                <a:spcPts val="180"/>
              </a:spcBef>
              <a:spcAft>
                <a:spcPts val="0"/>
              </a:spcAft>
              <a:buNone/>
            </a:pPr>
            <a:endPar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Test Performance:  RMSE = 62.70 MW  |  MAE = 43.97 MW  |  MAPE = 0.75%  |  R² = 0.9954</a:t>
            </a:r>
          </a:p>
          <a:p>
            <a:pPr marL="0" marR="0" lvl="0" indent="0" algn="l" rtl="0">
              <a:spcBef>
                <a:spcPts val="180"/>
              </a:spcBef>
              <a:spcAft>
                <a:spcPts val="0"/>
              </a:spcAft>
              <a:buNone/>
            </a:pPr>
            <a:r>
              <a:rPr lang="en-US" sz="2300" b="0" dirty="0">
                <a:solidFill>
                  <a:srgbClr val="888888"/>
                </a:solidFill>
                <a:latin typeface="Proxima Nova Rg" panose="02000506030000020004" pitchFamily="2" charset="0"/>
                <a:ea typeface="Proxima Nova" panose="02000506030000020004"/>
                <a:cs typeface="Proxima Nova" panose="02000506030000020004"/>
                <a:sym typeface="Proxima Nova" panose="02000506030000020004"/>
              </a:rPr>
              <a:t>14% RMSE improvement over Random Forest. Gradient-boosted residual learning effectively captures nonlinear lag/calendar feature relationships.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Model Architecture </a:t>
            </a:r>
            <a:r>
              <a:rPr lang="en-US" sz="36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Hybrid LSTM+GBM</a:t>
            </a:r>
          </a:p>
        </p:txBody>
      </p:sp>
      <p:sp>
        <p:nvSpPr>
          <p:cNvPr id="106" name="Google Shape;106;p4"/>
          <p:cNvSpPr txBox="1"/>
          <p:nvPr/>
        </p:nvSpPr>
        <p:spPr>
          <a:xfrm>
            <a:off x="534259" y="608035"/>
            <a:ext cx="11100000" cy="6232445"/>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Hybrid LSTM+GBM - Novel Contribution</a:t>
            </a:r>
          </a:p>
          <a:p>
            <a:pPr marL="0" marR="0" lvl="0" indent="0" algn="l" rtl="0">
              <a:spcBef>
                <a:spcPts val="180"/>
              </a:spcBef>
              <a:spcAft>
                <a:spcPts val="0"/>
              </a:spcAft>
              <a:buNone/>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The Hybrid model employs a two-stage architecture that decomposes forecasting into temporal pattern modelling (LSTM) and residual error correction (GBM). This is the principal novel contribution of this project.</a:t>
            </a:r>
          </a:p>
          <a:p>
            <a:pPr marL="0" marR="0" lvl="0" indent="0" algn="l" rtl="0">
              <a:spcBef>
                <a:spcPts val="180"/>
              </a:spcBef>
              <a:spcAft>
                <a:spcPts val="0"/>
              </a:spcAft>
              <a:buNone/>
            </a:pPr>
            <a:endPar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Two-Stage Design</a:t>
            </a:r>
          </a:p>
          <a:p>
            <a:pPr marL="0" marR="0" lvl="0" indent="0" algn="l" rtl="0">
              <a:spcBef>
                <a:spcPts val="180"/>
              </a:spcBef>
              <a:spcAft>
                <a:spcPts val="0"/>
              </a:spcAft>
              <a:buNone/>
            </a:pPr>
            <a:r>
              <a:rPr lang="en-US" sz="23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Stage 1 (Temporal Modelling):  Train LSTM to convergence on training set.</a:t>
            </a:r>
          </a:p>
          <a:p>
            <a:pPr marL="0" marR="0" lvl="0" indent="0" algn="l" rtl="0">
              <a:spcBef>
                <a:spcPts val="180"/>
              </a:spcBef>
              <a:spcAft>
                <a:spcPts val="0"/>
              </a:spcAft>
              <a:buNone/>
            </a:pPr>
            <a:r>
              <a:rPr lang="en-US" sz="2300" b="0" dirty="0">
                <a:solidFill>
                  <a:srgbClr val="1A1A1A"/>
                </a:solidFill>
                <a:latin typeface="Proxima Nova Rg" panose="02000506030000020004" pitchFamily="2" charset="0"/>
                <a:ea typeface="Proxima Nova" panose="02000506030000020004"/>
                <a:cs typeface="Proxima Nova" panose="02000506030000020004"/>
                <a:sym typeface="Proxima Nova" panose="02000506030000020004"/>
              </a:rPr>
              <a:t>Stage 2 (Residual Correction): Train GBM on residuals using same 2D feature matrix.</a:t>
            </a:r>
          </a:p>
          <a:p>
            <a:pPr marL="0" marR="0" lvl="0" indent="0" algn="l" rtl="0">
              <a:spcBef>
                <a:spcPts val="180"/>
              </a:spcBef>
              <a:spcAft>
                <a:spcPts val="0"/>
              </a:spcAft>
              <a:buNone/>
            </a:pPr>
            <a:endPar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Why It Works</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LSTM captures long-range sequential dependencies in time-indexed data</a:t>
            </a:r>
          </a:p>
          <a:p>
            <a:pPr marL="285750" marR="0" lvl="0" indent="-285750" algn="l" rtl="0">
              <a:spcBef>
                <a:spcPts val="180"/>
              </a:spcBef>
              <a:spcAft>
                <a:spcPts val="0"/>
              </a:spcAft>
              <a:buClr>
                <a:srgbClr val="04A2B9"/>
              </a:buClr>
              <a:buSzPts val="1500"/>
              <a:buFont typeface="Arial"/>
              <a:buChar char="●"/>
            </a:pPr>
            <a:r>
              <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GBM corrects systematic feature-driven errors that LSTM cannot capture alone</a:t>
            </a:r>
          </a:p>
          <a:p>
            <a:pPr marL="0" marR="0" lvl="0" indent="0" algn="l" rtl="0">
              <a:spcBef>
                <a:spcPts val="180"/>
              </a:spcBef>
              <a:spcAft>
                <a:spcPts val="0"/>
              </a:spcAft>
              <a:buNone/>
            </a:pPr>
            <a:endParaRPr lang="en-US" sz="23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3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Test Performance:  RMSE = 52.50 MW  |  MAE = 35.43 MW  |  MAPE = 0.60%  |  R² = 0.9979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Model Training &amp; Hyperparameters</a:t>
            </a:r>
          </a:p>
        </p:txBody>
      </p:sp>
      <p:sp>
        <p:nvSpPr>
          <p:cNvPr id="106" name="Google Shape;106;p4"/>
          <p:cNvSpPr txBox="1"/>
          <p:nvPr/>
        </p:nvSpPr>
        <p:spPr>
          <a:xfrm>
            <a:off x="534259" y="784051"/>
            <a:ext cx="11100000" cy="4937219"/>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Training Environment</a:t>
            </a:r>
          </a:p>
          <a:p>
            <a:pPr marL="0" indent="0" algn="l" rtl="0">
              <a:spcBef>
                <a:spcPts val="30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285750" marR="0" lvl="0" indent="-285750" algn="l" rtl="0">
              <a:spcBef>
                <a:spcPts val="180"/>
              </a:spcBef>
              <a:spcAft>
                <a:spcPts val="0"/>
              </a:spcAft>
              <a:buClr>
                <a:srgbClr val="04A2B9"/>
              </a:buClr>
              <a:buSzPts val="145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Platform: Google </a:t>
            </a:r>
            <a:r>
              <a:rPr lang="en-US" sz="2400" b="0" dirty="0" err="1">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Colab</a:t>
            </a: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 with NVIDIA T4 GPU (15 GB VRAM)</a:t>
            </a:r>
          </a:p>
          <a:p>
            <a:pPr marL="285750" marR="0" lvl="0" indent="-285750" algn="l" rtl="0">
              <a:spcBef>
                <a:spcPts val="180"/>
              </a:spcBef>
              <a:spcAft>
                <a:spcPts val="0"/>
              </a:spcAft>
              <a:buClr>
                <a:srgbClr val="04A2B9"/>
              </a:buClr>
              <a:buSzPts val="1450"/>
              <a:buFont typeface="Arial"/>
              <a:buChar char="●"/>
            </a:pPr>
            <a:endPar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285750" marR="0" lvl="0" indent="-285750" algn="l" rtl="0">
              <a:spcBef>
                <a:spcPts val="180"/>
              </a:spcBef>
              <a:spcAft>
                <a:spcPts val="0"/>
              </a:spcAft>
              <a:buClr>
                <a:srgbClr val="04A2B9"/>
              </a:buClr>
              <a:buSzPts val="145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GPU reduces LSTM/GRU training time from ~4 hrs (CPU) to &lt;20 min per model</a:t>
            </a:r>
          </a:p>
          <a:p>
            <a:pPr marL="285750" marR="0" lvl="0" indent="-285750" algn="l" rtl="0">
              <a:spcBef>
                <a:spcPts val="180"/>
              </a:spcBef>
              <a:spcAft>
                <a:spcPts val="0"/>
              </a:spcAft>
              <a:buClr>
                <a:srgbClr val="04A2B9"/>
              </a:buClr>
              <a:buSzPts val="1450"/>
              <a:buFont typeface="Arial"/>
              <a:buChar char="●"/>
            </a:pPr>
            <a:endPar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285750" marR="0" lvl="0" indent="-285750" algn="l" rtl="0">
              <a:spcBef>
                <a:spcPts val="180"/>
              </a:spcBef>
              <a:spcAft>
                <a:spcPts val="0"/>
              </a:spcAft>
              <a:buClr>
                <a:srgbClr val="04A2B9"/>
              </a:buClr>
              <a:buSzPts val="145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Stack: Python 3.10.12 | TensorFlow 2.12.0/Keras | XGBoost 1.7.6 | Scikit-learn 1.2.2</a:t>
            </a:r>
          </a:p>
          <a:p>
            <a:pPr marR="0" lvl="0" algn="l" rtl="0">
              <a:spcBef>
                <a:spcPts val="180"/>
              </a:spcBef>
              <a:spcAft>
                <a:spcPts val="0"/>
              </a:spcAft>
              <a:buClr>
                <a:srgbClr val="04A2B9"/>
              </a:buClr>
              <a:buSzPts val="1450"/>
            </a:pPr>
            <a:endPar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285750" marR="0" lvl="0" indent="-285750" algn="l" rtl="0">
              <a:spcBef>
                <a:spcPts val="180"/>
              </a:spcBef>
              <a:spcAft>
                <a:spcPts val="0"/>
              </a:spcAft>
              <a:buClr>
                <a:srgbClr val="04A2B9"/>
              </a:buClr>
              <a:buSzPts val="145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Fixed random seed (numpy=42, tensorflow=42) for full reproducibility</a:t>
            </a:r>
          </a:p>
          <a:p>
            <a:pPr marL="0" marR="0" lvl="0" indent="0" algn="l" rtl="0">
              <a:spcBef>
                <a:spcPts val="180"/>
              </a:spcBef>
              <a:spcAft>
                <a:spcPts val="0"/>
              </a:spcAft>
              <a:buNone/>
            </a:pPr>
            <a:endPar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Results - Forecast vs. Actual Load</a:t>
            </a:r>
          </a:p>
        </p:txBody>
      </p:sp>
      <p:sp>
        <p:nvSpPr>
          <p:cNvPr id="106" name="Google Shape;106;p4"/>
          <p:cNvSpPr txBox="1"/>
          <p:nvPr/>
        </p:nvSpPr>
        <p:spPr>
          <a:xfrm>
            <a:off x="534259" y="584518"/>
            <a:ext cx="11100000" cy="2369849"/>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Forecast vs. Actual Load - 500-Hour Test Window</a:t>
            </a:r>
          </a:p>
          <a:p>
            <a:pPr marL="0" marR="0" lvl="0" indent="0" algn="l" rtl="0">
              <a:spcBef>
                <a:spcPts val="18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rPr>
              <a:t>GRU:  RMSE = 87.98 MW - Captures overall diurnal trend but shows moderate deviation at peak demand hours. Highest error among all models.</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9" name="Picture 8">
            <a:extLst>
              <a:ext uri="{FF2B5EF4-FFF2-40B4-BE49-F238E27FC236}">
                <a16:creationId xmlns:a16="http://schemas.microsoft.com/office/drawing/2014/main" id="{5C722A8A-1D98-4F07-B769-56AB3C30E512}"/>
              </a:ext>
            </a:extLst>
          </p:cNvPr>
          <p:cNvPicPr>
            <a:picLocks noChangeAspect="1"/>
          </p:cNvPicPr>
          <p:nvPr/>
        </p:nvPicPr>
        <p:blipFill>
          <a:blip r:embed="rId3"/>
          <a:stretch>
            <a:fillRect/>
          </a:stretch>
        </p:blipFill>
        <p:spPr>
          <a:xfrm>
            <a:off x="557741" y="2496002"/>
            <a:ext cx="11032725" cy="36579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Results - Forecast vs. Actual Load</a:t>
            </a:r>
          </a:p>
        </p:txBody>
      </p:sp>
      <p:sp>
        <p:nvSpPr>
          <p:cNvPr id="106" name="Google Shape;106;p4"/>
          <p:cNvSpPr txBox="1"/>
          <p:nvPr/>
        </p:nvSpPr>
        <p:spPr>
          <a:xfrm>
            <a:off x="534259" y="584518"/>
            <a:ext cx="11100000" cy="2369849"/>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Forecast vs. Actual Load - 500-Hour Test Window</a:t>
            </a:r>
          </a:p>
          <a:p>
            <a:pPr marL="0" marR="0" lvl="0" indent="0" algn="l" rtl="0">
              <a:spcBef>
                <a:spcPts val="180"/>
              </a:spcBef>
              <a:spcAft>
                <a:spcPts val="0"/>
              </a:spcAft>
              <a:buNone/>
            </a:pPr>
            <a:endParaRPr lang="en-US" sz="220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rPr>
              <a:t>LSTM:  RMSE = 78.34 MW - Improved peak/trough tracking vs. GRU. Cell state mechanism retains long-range temporal context across full window.</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3" name="Picture 2">
            <a:extLst>
              <a:ext uri="{FF2B5EF4-FFF2-40B4-BE49-F238E27FC236}">
                <a16:creationId xmlns:a16="http://schemas.microsoft.com/office/drawing/2014/main" id="{644534B4-42EC-4053-B9EA-9E25CB5DC1C9}"/>
              </a:ext>
            </a:extLst>
          </p:cNvPr>
          <p:cNvPicPr>
            <a:picLocks noChangeAspect="1"/>
          </p:cNvPicPr>
          <p:nvPr/>
        </p:nvPicPr>
        <p:blipFill>
          <a:blip r:embed="rId3"/>
          <a:stretch>
            <a:fillRect/>
          </a:stretch>
        </p:blipFill>
        <p:spPr>
          <a:xfrm>
            <a:off x="557740" y="2486858"/>
            <a:ext cx="11032727" cy="3657909"/>
          </a:xfrm>
          <a:prstGeom prst="rect">
            <a:avLst/>
          </a:prstGeom>
        </p:spPr>
      </p:pic>
    </p:spTree>
    <p:extLst>
      <p:ext uri="{BB962C8B-B14F-4D97-AF65-F5344CB8AC3E}">
        <p14:creationId xmlns:p14="http://schemas.microsoft.com/office/powerpoint/2010/main" val="2618709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Results - Forecast vs. Actual Load</a:t>
            </a:r>
          </a:p>
        </p:txBody>
      </p:sp>
      <p:sp>
        <p:nvSpPr>
          <p:cNvPr id="106" name="Google Shape;106;p4"/>
          <p:cNvSpPr txBox="1"/>
          <p:nvPr/>
        </p:nvSpPr>
        <p:spPr>
          <a:xfrm>
            <a:off x="534259" y="584518"/>
            <a:ext cx="11100000" cy="2369849"/>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Forecast vs. Actual Load - 500-Hour Test Window</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rPr>
              <a:t>Random Forest:  RMSE = 72.94 MW, R² = 0.9960 - Follows general load trend well but under-predicts at peak demand; elevated MAPE (8.87%) from overnight low-load periods.</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3" name="Picture 2">
            <a:extLst>
              <a:ext uri="{FF2B5EF4-FFF2-40B4-BE49-F238E27FC236}">
                <a16:creationId xmlns:a16="http://schemas.microsoft.com/office/drawing/2014/main" id="{992E3F77-C2E5-4D49-8742-9359E83D2593}"/>
              </a:ext>
            </a:extLst>
          </p:cNvPr>
          <p:cNvPicPr>
            <a:picLocks noChangeAspect="1"/>
          </p:cNvPicPr>
          <p:nvPr/>
        </p:nvPicPr>
        <p:blipFill>
          <a:blip r:embed="rId3"/>
          <a:stretch>
            <a:fillRect/>
          </a:stretch>
        </p:blipFill>
        <p:spPr>
          <a:xfrm>
            <a:off x="557741" y="2484462"/>
            <a:ext cx="11067536" cy="3669450"/>
          </a:xfrm>
          <a:prstGeom prst="rect">
            <a:avLst/>
          </a:prstGeom>
        </p:spPr>
      </p:pic>
    </p:spTree>
    <p:extLst>
      <p:ext uri="{BB962C8B-B14F-4D97-AF65-F5344CB8AC3E}">
        <p14:creationId xmlns:p14="http://schemas.microsoft.com/office/powerpoint/2010/main" val="1398952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Results - Forecast vs. Actual Load</a:t>
            </a:r>
          </a:p>
        </p:txBody>
      </p:sp>
      <p:sp>
        <p:nvSpPr>
          <p:cNvPr id="106" name="Google Shape;106;p4"/>
          <p:cNvSpPr txBox="1"/>
          <p:nvPr/>
        </p:nvSpPr>
        <p:spPr>
          <a:xfrm>
            <a:off x="534259" y="584518"/>
            <a:ext cx="11100000" cy="2369849"/>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Forecast vs. Actual Load - 500-Hour Test Window</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rPr>
              <a:t>GBM:  RMSE = 62.70 MW - Tighter peak alignment than RF and LSTM. Gradient-boosted residual learning effectively captures nonlinear lag/calendar relationships.</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3" name="Picture 2">
            <a:extLst>
              <a:ext uri="{FF2B5EF4-FFF2-40B4-BE49-F238E27FC236}">
                <a16:creationId xmlns:a16="http://schemas.microsoft.com/office/drawing/2014/main" id="{2A30D3FE-8118-4CC7-BCF2-D786BCBD55B7}"/>
              </a:ext>
            </a:extLst>
          </p:cNvPr>
          <p:cNvPicPr>
            <a:picLocks noChangeAspect="1"/>
          </p:cNvPicPr>
          <p:nvPr/>
        </p:nvPicPr>
        <p:blipFill>
          <a:blip r:embed="rId3"/>
          <a:stretch>
            <a:fillRect/>
          </a:stretch>
        </p:blipFill>
        <p:spPr>
          <a:xfrm>
            <a:off x="557740" y="2514290"/>
            <a:ext cx="11060307" cy="3667053"/>
          </a:xfrm>
          <a:prstGeom prst="rect">
            <a:avLst/>
          </a:prstGeom>
        </p:spPr>
      </p:pic>
    </p:spTree>
    <p:extLst>
      <p:ext uri="{BB962C8B-B14F-4D97-AF65-F5344CB8AC3E}">
        <p14:creationId xmlns:p14="http://schemas.microsoft.com/office/powerpoint/2010/main" val="1474358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Results - Forecast vs. Actual Load</a:t>
            </a:r>
          </a:p>
        </p:txBody>
      </p:sp>
      <p:sp>
        <p:nvSpPr>
          <p:cNvPr id="106" name="Google Shape;106;p4"/>
          <p:cNvSpPr txBox="1"/>
          <p:nvPr/>
        </p:nvSpPr>
        <p:spPr>
          <a:xfrm>
            <a:off x="534259" y="584518"/>
            <a:ext cx="11100000" cy="2369849"/>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Forecast vs. Actual Load — 500-Hour Test Window</a:t>
            </a:r>
          </a:p>
          <a:p>
            <a:pPr marL="0" marR="0" lvl="0" indent="0" algn="l" rtl="0">
              <a:spcBef>
                <a:spcPts val="180"/>
              </a:spcBef>
              <a:spcAft>
                <a:spcPts val="0"/>
              </a:spcAft>
              <a:buNone/>
            </a:pPr>
            <a:endParaRPr lang="en-US" sz="2200" b="0" dirty="0">
              <a:solidFill>
                <a:srgbClr val="555555"/>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2200" b="1" dirty="0">
                <a:solidFill>
                  <a:schemeClr val="tx1"/>
                </a:solidFill>
                <a:latin typeface="Proxima Nova Rg" panose="02000506030000020004" pitchFamily="2" charset="0"/>
                <a:ea typeface="Proxima Nova" panose="02000506030000020004"/>
                <a:cs typeface="Proxima Nova" panose="02000506030000020004"/>
                <a:sym typeface="Proxima Nova" panose="02000506030000020004"/>
              </a:rPr>
              <a:t>Hybrid LSTM+GBM:  RMSE = 52.50 MW, R² = 0.9979 - Tightest alignment with actual load curve across entire 500-hour window. Best across all four metrics.</a:t>
            </a: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endPar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3" name="Picture 2">
            <a:extLst>
              <a:ext uri="{FF2B5EF4-FFF2-40B4-BE49-F238E27FC236}">
                <a16:creationId xmlns:a16="http://schemas.microsoft.com/office/drawing/2014/main" id="{5DA0C341-3CA4-402A-8005-A829CDDD23C4}"/>
              </a:ext>
            </a:extLst>
          </p:cNvPr>
          <p:cNvPicPr>
            <a:picLocks noChangeAspect="1"/>
          </p:cNvPicPr>
          <p:nvPr/>
        </p:nvPicPr>
        <p:blipFill>
          <a:blip r:embed="rId3"/>
          <a:stretch>
            <a:fillRect/>
          </a:stretch>
        </p:blipFill>
        <p:spPr>
          <a:xfrm>
            <a:off x="534258" y="2477714"/>
            <a:ext cx="11170623" cy="3703629"/>
          </a:xfrm>
          <a:prstGeom prst="rect">
            <a:avLst/>
          </a:prstGeom>
        </p:spPr>
      </p:pic>
    </p:spTree>
    <p:extLst>
      <p:ext uri="{BB962C8B-B14F-4D97-AF65-F5344CB8AC3E}">
        <p14:creationId xmlns:p14="http://schemas.microsoft.com/office/powerpoint/2010/main" val="2747042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Performance Comparison</a:t>
            </a:r>
          </a:p>
        </p:txBody>
      </p:sp>
      <p:sp>
        <p:nvSpPr>
          <p:cNvPr id="106" name="Google Shape;106;p4"/>
          <p:cNvSpPr txBox="1"/>
          <p:nvPr/>
        </p:nvSpPr>
        <p:spPr>
          <a:xfrm>
            <a:off x="534259" y="707913"/>
            <a:ext cx="11100000" cy="6147807"/>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Performance Comparison - All Five Models</a:t>
            </a:r>
          </a:p>
          <a:p>
            <a:pPr marL="0" marR="0" lvl="0" indent="0" algn="l" rtl="0">
              <a:spcBef>
                <a:spcPts val="18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p>
          <a:p>
            <a:pPr marL="0" marR="0" lvl="0" indent="0" algn="l" rtl="0">
              <a:spcBef>
                <a:spcPts val="18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p>
          <a:p>
            <a:pPr marL="0" marR="0" lvl="0" indent="0" algn="l" rtl="0">
              <a:spcBef>
                <a:spcPts val="18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endPar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4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Key Improvements of Hybrid LSTM+GBM</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vs. standalone LSTM: 33.0% RMSE reduction, 41.6% MAPE reduction</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vs. standalone GBM: 16.3% RMSE reduction, 19.9% MAPE reduction</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vs. GRU baseline: 40.3% RMSE reduction</a:t>
            </a:r>
          </a:p>
          <a:p>
            <a:pPr marL="285750" marR="0" lvl="0" indent="-285750" algn="l" rtl="0">
              <a:spcBef>
                <a:spcPts val="180"/>
              </a:spcBef>
              <a:spcAft>
                <a:spcPts val="0"/>
              </a:spcAft>
              <a:buClr>
                <a:srgbClr val="04A2B9"/>
              </a:buClr>
              <a:buSzPts val="1500"/>
              <a:buFont typeface="Arial"/>
              <a:buChar char="●"/>
            </a:pPr>
            <a:r>
              <a:rPr lang="en-US" sz="24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R² = 0.9979 → 99.79% of test set variance explained</a:t>
            </a:r>
          </a:p>
        </p:txBody>
      </p:sp>
      <p:pic>
        <p:nvPicPr>
          <p:cNvPr id="5" name="Picture 4">
            <a:extLst>
              <a:ext uri="{FF2B5EF4-FFF2-40B4-BE49-F238E27FC236}">
                <a16:creationId xmlns:a16="http://schemas.microsoft.com/office/drawing/2014/main" id="{28DAB163-3137-4ED4-AAE8-B5258690D6B7}"/>
              </a:ext>
            </a:extLst>
          </p:cNvPr>
          <p:cNvPicPr>
            <a:picLocks noChangeAspect="1"/>
          </p:cNvPicPr>
          <p:nvPr/>
        </p:nvPicPr>
        <p:blipFill>
          <a:blip r:embed="rId3"/>
          <a:stretch>
            <a:fillRect/>
          </a:stretch>
        </p:blipFill>
        <p:spPr>
          <a:xfrm>
            <a:off x="1565454" y="1681572"/>
            <a:ext cx="9061091" cy="300803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Result Analysis &amp; Discussion</a:t>
            </a:r>
          </a:p>
        </p:txBody>
      </p:sp>
      <p:sp>
        <p:nvSpPr>
          <p:cNvPr id="106" name="Google Shape;106;p4"/>
          <p:cNvSpPr txBox="1"/>
          <p:nvPr/>
        </p:nvSpPr>
        <p:spPr>
          <a:xfrm>
            <a:off x="534259" y="616075"/>
            <a:ext cx="11100000" cy="6024696"/>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1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1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Key Findings</a:t>
            </a:r>
          </a:p>
          <a:p>
            <a:pPr marL="285750" marR="0" lvl="0" indent="-285750" algn="l" rtl="0">
              <a:spcBef>
                <a:spcPts val="180"/>
              </a:spcBef>
              <a:spcAft>
                <a:spcPts val="0"/>
              </a:spcAft>
              <a:buClr>
                <a:srgbClr val="04A2B9"/>
              </a:buClr>
              <a:buSzPts val="15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GRU establishes the deep learning baseline (RMSE 87.98 MW, MAPE 1.10%). Simpler gating vs. LSTM results in higher error.</a:t>
            </a:r>
          </a:p>
          <a:p>
            <a:pPr marL="285750" marR="0" lvl="0" indent="-285750" algn="l" rtl="0">
              <a:spcBef>
                <a:spcPts val="180"/>
              </a:spcBef>
              <a:spcAft>
                <a:spcPts val="0"/>
              </a:spcAft>
              <a:buClr>
                <a:srgbClr val="04A2B9"/>
              </a:buClr>
              <a:buSzPts val="15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LSTM outperforms GRU (RMSE 78.34 MW) - long-range cell state mechanism is beneficial for 24-hour lookback sequences.</a:t>
            </a:r>
          </a:p>
          <a:p>
            <a:pPr marL="285750" marR="0" lvl="0" indent="-285750" algn="l" rtl="0">
              <a:spcBef>
                <a:spcPts val="180"/>
              </a:spcBef>
              <a:spcAft>
                <a:spcPts val="0"/>
              </a:spcAft>
              <a:buClr>
                <a:srgbClr val="04A2B9"/>
              </a:buClr>
              <a:buSzPts val="15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Random Forest achieves strong R² (0.9960) but elevated MAPE (8.87%) from near-zero overnight load values. Disqualified for % error-sensitive applications.</a:t>
            </a:r>
          </a:p>
          <a:p>
            <a:pPr marL="285750" marR="0" lvl="0" indent="-285750" algn="l" rtl="0">
              <a:spcBef>
                <a:spcPts val="180"/>
              </a:spcBef>
              <a:spcAft>
                <a:spcPts val="0"/>
              </a:spcAft>
              <a:buClr>
                <a:srgbClr val="04A2B9"/>
              </a:buClr>
              <a:buSzPts val="15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GBM outperforms RF by 14% in RMSE (62.70 MW) and achieves MAPE of 0.75% — gradient-boosted residual learning superior over bagging with structured features.</a:t>
            </a:r>
          </a:p>
          <a:p>
            <a:pPr marL="285750" marR="0" lvl="0" indent="-285750" algn="l" rtl="0">
              <a:spcBef>
                <a:spcPts val="180"/>
              </a:spcBef>
              <a:spcAft>
                <a:spcPts val="0"/>
              </a:spcAft>
              <a:buClr>
                <a:srgbClr val="04A2B9"/>
              </a:buClr>
              <a:buSzPts val="155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Hybrid LSTM+GBM achieves best across all four metrics — validating the hypothesis that LSTM temporal learning and GBM residual correction are genuinely complementary.</a:t>
            </a:r>
          </a:p>
          <a:p>
            <a:pPr marL="0" marR="0" lvl="0" indent="0" algn="l" rtl="0">
              <a:spcBef>
                <a:spcPts val="180"/>
              </a:spcBef>
              <a:spcAft>
                <a:spcPts val="0"/>
              </a:spcAft>
              <a:buNone/>
            </a:pPr>
            <a:endPar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1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System-Level Acceptance Criteria — All Met</a:t>
            </a:r>
          </a:p>
          <a:p>
            <a:pPr marL="285750" marR="0" lvl="0" indent="-285750" algn="l" rtl="0">
              <a:spcBef>
                <a:spcPts val="180"/>
              </a:spcBef>
              <a:spcAft>
                <a:spcPts val="0"/>
              </a:spcAft>
              <a:buClr>
                <a:srgbClr val="04A2B9"/>
              </a:buClr>
              <a:buSzPts val="150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RMSE &lt; 60 MW → Achieved: 52.50 MW ✓</a:t>
            </a:r>
          </a:p>
          <a:p>
            <a:pPr marL="285750" marR="0" lvl="0" indent="-285750" algn="l" rtl="0">
              <a:spcBef>
                <a:spcPts val="180"/>
              </a:spcBef>
              <a:spcAft>
                <a:spcPts val="0"/>
              </a:spcAft>
              <a:buClr>
                <a:srgbClr val="04A2B9"/>
              </a:buClr>
              <a:buSzPts val="150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MAPE &lt; 1.0% → Achieved: 0.60% ✓</a:t>
            </a:r>
          </a:p>
          <a:p>
            <a:pPr marL="285750" marR="0" lvl="0" indent="-285750" algn="l" rtl="0">
              <a:spcBef>
                <a:spcPts val="180"/>
              </a:spcBef>
              <a:spcAft>
                <a:spcPts val="0"/>
              </a:spcAft>
              <a:buClr>
                <a:srgbClr val="04A2B9"/>
              </a:buClr>
              <a:buSzPts val="1500"/>
              <a:buFont typeface="Arial"/>
              <a:buChar char="●"/>
            </a:pPr>
            <a:r>
              <a:rPr lang="en-US" sz="21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R² &gt; 0.995 → Achieved: 0.9979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Conclusion &amp; Future Work</a:t>
            </a:r>
          </a:p>
        </p:txBody>
      </p:sp>
      <p:sp>
        <p:nvSpPr>
          <p:cNvPr id="106" name="Google Shape;106;p4"/>
          <p:cNvSpPr txBox="1"/>
          <p:nvPr/>
        </p:nvSpPr>
        <p:spPr>
          <a:xfrm>
            <a:off x="634843" y="500640"/>
            <a:ext cx="11100000" cy="6350426"/>
          </a:xfrm>
          <a:prstGeom prst="rect">
            <a:avLst/>
          </a:prstGeom>
          <a:noFill/>
          <a:ln>
            <a:noFill/>
          </a:ln>
        </p:spPr>
        <p:txBody>
          <a:bodyPr spcFirstLastPara="1" wrap="square" lIns="91425" tIns="91425" rIns="91425" bIns="91425" anchor="t" anchorCtr="0">
            <a:spAutoFit/>
          </a:bodyPr>
          <a:lstStyle/>
          <a:p>
            <a:pPr marL="0" indent="0" algn="l" rtl="0">
              <a:spcBef>
                <a:spcPts val="300"/>
              </a:spcBef>
              <a:spcAft>
                <a:spcPts val="0"/>
              </a:spcAft>
              <a:buNone/>
            </a:pPr>
            <a:endParaRPr lang="en-US" sz="22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Summary</a:t>
            </a:r>
          </a:p>
          <a:p>
            <a:pPr marL="285750" marR="0" lvl="0" indent="-285750" algn="l" rtl="0">
              <a:spcBef>
                <a:spcPts val="180"/>
              </a:spcBef>
              <a:spcAft>
                <a:spcPts val="0"/>
              </a:spcAft>
              <a:buClr>
                <a:srgbClr val="04A2B9"/>
              </a:buClr>
              <a:buSzPts val="15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Systematic comparison of 5 heterogeneous forecasting models under unified experimental conditions on the NYISO dataset.</a:t>
            </a:r>
          </a:p>
          <a:p>
            <a:pPr marL="285750" marR="0" lvl="0" indent="-285750" algn="l" rtl="0">
              <a:spcBef>
                <a:spcPts val="180"/>
              </a:spcBef>
              <a:spcAft>
                <a:spcPts val="0"/>
              </a:spcAft>
              <a:buClr>
                <a:srgbClr val="04A2B9"/>
              </a:buClr>
              <a:buSzPts val="15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Hybrid LSTM+GBM confirmed as optimal: RMSE = 52.50 MW, R² = 0.9979 (40.3% RMSE reduction over GRU baseline).</a:t>
            </a:r>
          </a:p>
          <a:p>
            <a:pPr marL="285750" marR="0" lvl="0" indent="-285750" algn="l" rtl="0">
              <a:spcBef>
                <a:spcPts val="180"/>
              </a:spcBef>
              <a:spcAft>
                <a:spcPts val="0"/>
              </a:spcAft>
              <a:buClr>
                <a:srgbClr val="04A2B9"/>
              </a:buClr>
              <a:buSzPts val="15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Full technical viability demonstrated using open-source tools and a public dataset within 12-week semester at zero cost.</a:t>
            </a:r>
          </a:p>
          <a:p>
            <a:pPr marL="0" marR="0" lvl="0" indent="0" algn="l" rtl="0">
              <a:spcBef>
                <a:spcPts val="180"/>
              </a:spcBef>
              <a:spcAft>
                <a:spcPts val="0"/>
              </a:spcAft>
              <a:buNone/>
            </a:pPr>
            <a:endPar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Limitations</a:t>
            </a:r>
          </a:p>
          <a:p>
            <a:pPr marL="285750" marR="0" lvl="0" indent="-285750" algn="l" rtl="0">
              <a:spcBef>
                <a:spcPts val="180"/>
              </a:spcBef>
              <a:spcAft>
                <a:spcPts val="0"/>
              </a:spcAft>
              <a:buClr>
                <a:srgbClr val="04A2B9"/>
              </a:buClr>
              <a:buSzPts val="14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NYISO regional aggregate data - not sub-metered appliance-level data</a:t>
            </a:r>
          </a:p>
          <a:p>
            <a:pPr marL="285750" marR="0" lvl="0" indent="-285750" algn="l" rtl="0">
              <a:spcBef>
                <a:spcPts val="180"/>
              </a:spcBef>
              <a:spcAft>
                <a:spcPts val="0"/>
              </a:spcAft>
              <a:buClr>
                <a:srgbClr val="04A2B9"/>
              </a:buClr>
              <a:buSzPts val="14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No exogenous weather variables incorporated (temperature, humidity, irradiance)</a:t>
            </a:r>
          </a:p>
          <a:p>
            <a:pPr marL="285750" marR="0" lvl="0" indent="-285750" algn="l" rtl="0">
              <a:spcBef>
                <a:spcPts val="180"/>
              </a:spcBef>
              <a:spcAft>
                <a:spcPts val="0"/>
              </a:spcAft>
              <a:buClr>
                <a:srgbClr val="04A2B9"/>
              </a:buClr>
              <a:buSzPts val="14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Offline batch training - not deployed for real-time inference on live grid streams</a:t>
            </a:r>
          </a:p>
          <a:p>
            <a:pPr marL="0" marR="0" lvl="0" indent="0" algn="l" rtl="0">
              <a:spcBef>
                <a:spcPts val="180"/>
              </a:spcBef>
              <a:spcAft>
                <a:spcPts val="0"/>
              </a:spcAft>
              <a:buNone/>
            </a:pPr>
            <a:endPar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endParaRPr>
          </a:p>
          <a:p>
            <a:pPr marL="0" indent="0" algn="l" rtl="0">
              <a:spcBef>
                <a:spcPts val="300"/>
              </a:spcBef>
              <a:spcAft>
                <a:spcPts val="0"/>
              </a:spcAft>
              <a:buNone/>
            </a:pPr>
            <a:r>
              <a:rPr lang="en-US" sz="22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Future Enhancements</a:t>
            </a:r>
          </a:p>
          <a:p>
            <a:pPr marL="285750" marR="0" lvl="0" indent="-285750" algn="l" rtl="0">
              <a:spcBef>
                <a:spcPts val="180"/>
              </a:spcBef>
              <a:spcAft>
                <a:spcPts val="0"/>
              </a:spcAft>
              <a:buClr>
                <a:srgbClr val="04A2B9"/>
              </a:buClr>
              <a:buSzPts val="14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Multi-region validation: More datasets to be trained including India’s POSOCO dataset</a:t>
            </a:r>
          </a:p>
          <a:p>
            <a:pPr marL="285750" marR="0" lvl="0" indent="-285750" algn="l" rtl="0">
              <a:spcBef>
                <a:spcPts val="180"/>
              </a:spcBef>
              <a:spcAft>
                <a:spcPts val="0"/>
              </a:spcAft>
              <a:buClr>
                <a:srgbClr val="04A2B9"/>
              </a:buClr>
              <a:buSzPts val="1450"/>
              <a:buFont typeface="Arial"/>
              <a:buChar char="●"/>
            </a:pPr>
            <a:r>
              <a:rPr lang="en-US" sz="2200" b="0" dirty="0">
                <a:solidFill>
                  <a:srgbClr val="444444"/>
                </a:solidFill>
                <a:latin typeface="Proxima Nova Rg" panose="02000506030000020004" pitchFamily="2" charset="0"/>
                <a:ea typeface="Proxima Nova" panose="02000506030000020004"/>
                <a:cs typeface="Proxima Nova" panose="02000506030000020004"/>
                <a:sym typeface="Proxima Nova" panose="02000506030000020004"/>
              </a:rPr>
              <a:t>Integrate exogenous weather API feeds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References </a:t>
            </a:r>
          </a:p>
        </p:txBody>
      </p:sp>
      <p:sp>
        <p:nvSpPr>
          <p:cNvPr id="106" name="Google Shape;106;p4"/>
          <p:cNvSpPr txBox="1"/>
          <p:nvPr/>
        </p:nvSpPr>
        <p:spPr>
          <a:xfrm>
            <a:off x="534259" y="780000"/>
            <a:ext cx="11100000" cy="5993918"/>
          </a:xfrm>
          <a:prstGeom prst="rect">
            <a:avLst/>
          </a:prstGeom>
          <a:noFill/>
          <a:ln>
            <a:noFill/>
          </a:ln>
        </p:spPr>
        <p:txBody>
          <a:bodyPr spcFirstLastPara="1" wrap="square" lIns="91425" tIns="91425" rIns="91425" bIns="91425" anchor="t" anchorCtr="0">
            <a:spAutoFit/>
          </a:bodyPr>
          <a:lstStyle/>
          <a:p>
            <a:pPr marL="0" marR="0" lvl="0" indent="0" algn="l" rtl="0">
              <a:spcBef>
                <a:spcPts val="180"/>
              </a:spcBef>
              <a:spcAft>
                <a:spcPts val="0"/>
              </a:spcAft>
              <a:buNone/>
            </a:pPr>
            <a:endParaRPr lang="en-US" sz="1250" b="0" dirty="0">
              <a:solidFill>
                <a:srgbClr val="333333"/>
              </a:solidFill>
              <a:latin typeface="Proxima Nova" panose="02000506030000020004"/>
              <a:ea typeface="Proxima Nova" panose="02000506030000020004"/>
              <a:cs typeface="Proxima Nova" panose="02000506030000020004"/>
              <a:sym typeface="Proxima Nova" panose="02000506030000020004"/>
            </a:endParaRP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 Grand View Research, “Smart home market size, share &amp; trends analysis report,” Grand View Research, 2023.</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 S. Haben et al., “Analysis and clustering of residential customers energy behavioral demand using smart meter </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data,” IEEE Trans. Smart Grid, vol. 7, no. 1, pp. 136-144, 2016.</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[3] J. Kelly &amp; W. Knottenbelt, “The UK-DALE dataset,” Scientific Data, vol. 2, p. 150007, 2015.</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[4] R. Weron, “Electricity price forecasting: a review of the state-of-the-art,” Int. J. Forecasting, vol. 30, no. 4, pp. 1030-1081, 2014.</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[5] D. P. Chassin et al., “GridLAB-D: an open-source power systems modeling environment,” IEEE PES T&amp;D, 2008.</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[6] Gopikrishna P.B. et al., “Power consumption prediction using ARIMA,” IEEE Int. Conf. Advances in Computing, 2021.</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[7] P.K. Jain et al., “Electricity consumption forecasting using time series analysis,” Int. Conf. IT, 2018.</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[8] M. Bilal et al., “Comparative analysis of energy forecasting models,” Sustainability, vol. 14, 2022.</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[9] A. Qureshi et al., “LSTM electricity prediction for smart homes,” Sustainability, vol. 16, 2024.</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[10] S. Hochreiter &amp; J. Schmidhuber, “Long short-term memory,” Neural Computation, vol. 9, no. 8, pp. 1735-1780, 1997.</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[11] M.T. Ucar &amp; A. Kaygusuz, “Short-term energy forecasting using deep learning models,” Energy Reports, vol. 11, 2025.</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[12] I. Hammou Ou Ali et al., “Predicting short-term energy usage in smart home using hybrid DL models,” Frontiers in Energy Research, vol. 12, 2024.</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[13] K. Ullah et al., “Short-term load forecasting using CNN-LSTM,” IEEE Access, vol. 12, 2024.</a:t>
            </a:r>
          </a:p>
          <a:p>
            <a:pPr marL="0" marR="0" lvl="0" indent="0" algn="l" rtl="0">
              <a:spcBef>
                <a:spcPts val="180"/>
              </a:spcBef>
              <a:spcAft>
                <a:spcPts val="0"/>
              </a:spcAft>
              <a:buNone/>
            </a:pPr>
            <a:r>
              <a:rPr lang="en-US" sz="1700" b="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[14] B. Devanathan et al., “AI-based energy consumption forecasting in smart homes,” IEEE, 2025.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2A75DFE2-ADD1-217A-BF3A-ECC39BD4E2E7}"/>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646FA846-B8D7-A87F-98A5-97B72BC49445}"/>
              </a:ext>
            </a:extLst>
          </p:cNvPr>
          <p:cNvSpPr txBox="1">
            <a:spLocks noGrp="1"/>
          </p:cNvSpPr>
          <p:nvPr>
            <p:ph type="title"/>
          </p:nvPr>
        </p:nvSpPr>
        <p:spPr>
          <a:xfrm>
            <a:off x="534259" y="217229"/>
            <a:ext cx="10500000" cy="5668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None/>
            </a:pPr>
            <a:r>
              <a:rPr lang="en-US" sz="36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References</a:t>
            </a:r>
          </a:p>
        </p:txBody>
      </p:sp>
      <p:sp>
        <p:nvSpPr>
          <p:cNvPr id="106" name="Google Shape;106;p4">
            <a:extLst>
              <a:ext uri="{FF2B5EF4-FFF2-40B4-BE49-F238E27FC236}">
                <a16:creationId xmlns:a16="http://schemas.microsoft.com/office/drawing/2014/main" id="{7F7DB540-5889-E99E-1862-555D44C234F2}"/>
              </a:ext>
            </a:extLst>
          </p:cNvPr>
          <p:cNvSpPr txBox="1"/>
          <p:nvPr/>
        </p:nvSpPr>
        <p:spPr>
          <a:xfrm>
            <a:off x="534259" y="780000"/>
            <a:ext cx="11100000" cy="5906715"/>
          </a:xfrm>
          <a:prstGeom prst="rect">
            <a:avLst/>
          </a:prstGeom>
          <a:noFill/>
          <a:ln>
            <a:noFill/>
          </a:ln>
        </p:spPr>
        <p:txBody>
          <a:bodyPr spcFirstLastPara="1" wrap="square" lIns="91425" tIns="91425" rIns="91425" bIns="91425" anchor="t" anchorCtr="0">
            <a:spAutoFit/>
          </a:bodyPr>
          <a:lstStyle/>
          <a:p>
            <a:pPr lvl="0">
              <a:spcBef>
                <a:spcPts val="180"/>
              </a:spcBef>
            </a:pPr>
            <a:endParaRPr lang="en-US" sz="1250" dirty="0">
              <a:solidFill>
                <a:srgbClr val="333333"/>
              </a:solidFill>
              <a:latin typeface="Proxima Nova" panose="02000506030000020004"/>
              <a:ea typeface="Proxima Nova" panose="02000506030000020004"/>
              <a:cs typeface="Proxima Nova" panose="02000506030000020004"/>
              <a:sym typeface="Proxima Nova" panose="02000506030000020004"/>
            </a:endParaRPr>
          </a:p>
          <a:p>
            <a:pPr lvl="0">
              <a:spcBef>
                <a:spcPts val="180"/>
              </a:spcBef>
            </a:pPr>
            <a:endParaRPr lang="en-US" sz="1250" dirty="0">
              <a:solidFill>
                <a:srgbClr val="333333"/>
              </a:solidFill>
              <a:latin typeface="Proxima Nova" panose="02000506030000020004"/>
              <a:ea typeface="Proxima Nova" panose="02000506030000020004"/>
              <a:cs typeface="Proxima Nova" panose="02000506030000020004"/>
              <a:sym typeface="Proxima Nova" panose="02000506030000020004"/>
            </a:endParaRP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[15] F.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Dewangan</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et al., “Load forecasting models in smart grid using smart meter information,” Energies, vol. 16, 2023.</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[16] NYISO, “Hourly integrated real-time actual load data,” [Online]. Available: https://www.nyiso.com/load-data</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[17] J.G.A. Caw-it &amp; F.J.B.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Talirongan</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“Forecasting household electricity using ARIMA,” IEEE, 2025.</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[18] A. Banga et al., “Stacking ML models for electricity forecasting,” IEEE, 2021.</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[19] K. Alsalem, “Hybrid time series forecasting using fuzzy clustering &amp; ML,” Applied Sciences, vol. 15, 2025.</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[20] L. Wang et al., “Residential electricity forecast using temperature and deep learning,” Energy, vol. 290, 2025.</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[21] B.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Allehyani</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“Hybrid CNN-LSTM and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TimeGAN</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for smart home energy prediction,” IEEE Access, vol. 12, 2024.</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[22] N.T. Ngo et al., “Hybrid AI model for building energy forecasting using SARIMA-SVR,” Energy and Buildings, vol. 255, 2022.</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[23] B. Parizad et al., “Hybrid ML model for energy demand and price forecasting,” Sustainable Energy Tech., vol. 62, 2024.</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[24] A. Rizwan et al., “Federated transfer learning for smart home energy prediction,” IEEE Access, vol. 12, 2024.</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[25] M. Meyer et al., “Benchmarking time series models for electricity load forecasting,” Energy and AI, vol. 19, 2025.</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[26] H. Kim et al., “Time-series clustering and forecasting of household electricity demand,” Energy Reports, vol. 9, 2023.</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[27] T. Chen &amp; C.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Guestrin</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XGBoost</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a scalable tree boosting system,” ACM SIGKDD, pp. 785-794, 2016.</a:t>
            </a:r>
          </a:p>
          <a:p>
            <a:pPr lvl="0">
              <a:spcBef>
                <a:spcPts val="180"/>
              </a:spcBef>
            </a:pP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[28] L. </a:t>
            </a:r>
            <a:r>
              <a:rPr lang="en-US" sz="1700" dirty="0" err="1">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Breiman</a:t>
            </a:r>
            <a:r>
              <a:rPr lang="en-US" sz="1700" dirty="0">
                <a:solidFill>
                  <a:srgbClr val="333333"/>
                </a:solidFill>
                <a:latin typeface="Proxima Nova Rg" panose="02000506030000020004" pitchFamily="2" charset="0"/>
                <a:ea typeface="Proxima Nova" panose="02000506030000020004"/>
                <a:cs typeface="Proxima Nova" panose="02000506030000020004"/>
                <a:sym typeface="Proxima Nova" panose="02000506030000020004"/>
              </a:rPr>
              <a:t>, “Random forests,” Machine Learning, vol. 45, no. 1, pp. 5-32, 2001.</a:t>
            </a:r>
          </a:p>
          <a:p>
            <a:pPr marL="0" marR="0" lvl="0" indent="0" algn="l" rtl="0">
              <a:spcBef>
                <a:spcPts val="180"/>
              </a:spcBef>
              <a:spcAft>
                <a:spcPts val="0"/>
              </a:spcAft>
              <a:buNone/>
            </a:pPr>
            <a:endParaRPr lang="en-US" sz="1250" b="0" dirty="0">
              <a:solidFill>
                <a:srgbClr val="333333"/>
              </a:solidFill>
              <a:latin typeface="Proxima Nova" panose="02000506030000020004"/>
              <a:ea typeface="Proxima Nova" panose="02000506030000020004"/>
              <a:cs typeface="Proxima Nova" panose="02000506030000020004"/>
              <a:sym typeface="Proxima Nova" panose="02000506030000020004"/>
            </a:endParaRPr>
          </a:p>
        </p:txBody>
      </p:sp>
    </p:spTree>
    <p:extLst>
      <p:ext uri="{BB962C8B-B14F-4D97-AF65-F5344CB8AC3E}">
        <p14:creationId xmlns:p14="http://schemas.microsoft.com/office/powerpoint/2010/main" val="1092939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4645F9D-99AD-100D-6BB0-C2964E6F7E3A}"/>
            </a:ext>
          </a:extLst>
        </p:cNvPr>
        <p:cNvGrpSpPr/>
        <p:nvPr/>
      </p:nvGrpSpPr>
      <p:grpSpPr>
        <a:xfrm>
          <a:off x="0" y="0"/>
          <a:ext cx="0" cy="0"/>
          <a:chOff x="0" y="0"/>
          <a:chExt cx="0" cy="0"/>
        </a:xfrm>
      </p:grpSpPr>
    </p:spTree>
    <p:extLst>
      <p:ext uri="{BB962C8B-B14F-4D97-AF65-F5344CB8AC3E}">
        <p14:creationId xmlns:p14="http://schemas.microsoft.com/office/powerpoint/2010/main" val="403312107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3412</Words>
  <Application>Microsoft Office PowerPoint</Application>
  <PresentationFormat>Widescreen</PresentationFormat>
  <Paragraphs>281</Paragraphs>
  <Slides>29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Cambria</vt:lpstr>
      <vt:lpstr>Proxima Nova</vt:lpstr>
      <vt:lpstr>Calibri</vt:lpstr>
      <vt:lpstr>Arial</vt:lpstr>
      <vt:lpstr>Proxima Nova Rg</vt:lpstr>
      <vt:lpstr>Office Theme</vt:lpstr>
      <vt:lpstr>PowerPoint Presentation</vt:lpstr>
      <vt:lpstr>PowerPoint Presentation</vt:lpstr>
      <vt:lpstr>Outline</vt:lpstr>
      <vt:lpstr>Abstract</vt:lpstr>
      <vt:lpstr>Objectives</vt:lpstr>
      <vt:lpstr>Dataset Description</vt:lpstr>
      <vt:lpstr>Data Preprocessing &amp; Feature Engineering</vt:lpstr>
      <vt:lpstr>Methodology - System Architecture</vt:lpstr>
      <vt:lpstr>Methodology - System Architecture</vt:lpstr>
      <vt:lpstr>Literature Review</vt:lpstr>
      <vt:lpstr>Literature Review</vt:lpstr>
      <vt:lpstr>Research Gap</vt:lpstr>
      <vt:lpstr>Model Architecture - LSTM</vt:lpstr>
      <vt:lpstr>Model Architecture - GRU</vt:lpstr>
      <vt:lpstr>Model Architecture - Random Forest</vt:lpstr>
      <vt:lpstr>Model Architecture - GBM</vt:lpstr>
      <vt:lpstr>Model Architecture - Hybrid LSTM+GBM</vt:lpstr>
      <vt:lpstr>Model Training &amp; Hyperparameters</vt:lpstr>
      <vt:lpstr>Results - Forecast vs. Actual Load</vt:lpstr>
      <vt:lpstr>Results - Forecast vs. Actual Load</vt:lpstr>
      <vt:lpstr>Results - Forecast vs. Actual Load</vt:lpstr>
      <vt:lpstr>Results - Forecast vs. Actual Load</vt:lpstr>
      <vt:lpstr>Results - Forecast vs. Actual Load</vt:lpstr>
      <vt:lpstr>Performance Comparison</vt:lpstr>
      <vt:lpstr>Result Analysis &amp; Discussion</vt:lpstr>
      <vt:lpstr>Conclusion &amp; Future Work</vt:lpstr>
      <vt:lpstr>References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Sharafat Kothariya</cp:lastModifiedBy>
  <cp:revision>28</cp:revision>
  <dcterms:created xsi:type="dcterms:W3CDTF">2023-12-05T07:58:00Z</dcterms:created>
  <dcterms:modified xsi:type="dcterms:W3CDTF">2026-04-10T16:18:50Z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1033-12.2.0.23196</vt:lpwstr>
  </property>
</Properties>
</file>